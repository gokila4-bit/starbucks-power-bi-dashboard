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5" r:id="rId15"/>
    <p:sldId id="276" r:id="rId16"/>
    <p:sldId id="277" r:id="rId17"/>
    <p:sldId id="278" r:id="rId18"/>
    <p:sldId id="279" r:id="rId19"/>
    <p:sldId id="270" r:id="rId20"/>
    <p:sldId id="272" r:id="rId21"/>
    <p:sldId id="273"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09" autoAdjust="0"/>
    <p:restoredTop sz="94610"/>
  </p:normalViewPr>
  <p:slideViewPr>
    <p:cSldViewPr snapToGrid="0" snapToObjects="1">
      <p:cViewPr varScale="1">
        <p:scale>
          <a:sx n="66" d="100"/>
          <a:sy n="66" d="100"/>
        </p:scale>
        <p:origin x="10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2572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6D76F-8765-79A7-367B-D5249BF7E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B06B7-0DA3-CA12-B219-075907350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48039-1666-EC31-BB36-04C7037473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536789-229A-4AF0-9CCD-A250E683668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4365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0FE07-95F5-3D2A-5ED8-68ACBB1FE1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0E66E-6E8A-4DF2-F77D-798DAB24F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BA68A-476C-FE31-F376-AD57576863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4DD0B8-A657-A12D-715B-595AF77404DA}"/>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21843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F42B3-DE0F-6978-AA0B-ED8EE83EB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AF4A2-8BF9-DF93-F2CD-4061E31AF7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E977E-B643-F83B-6935-A607C5CD4B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69DC72-D79D-1D47-1E97-775223788F6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21722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EE34F-B779-F19B-C648-CC23323DA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0D51D-1A72-1B36-9E32-299F59BA2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E2BEC-2034-D64C-AB4E-4CCD13D3B8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4FDF6D-820E-0C02-DCE8-9CC42AFE96C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401158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E496B-1284-E764-1542-CB2C7999BD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60195A-FF66-31A0-C2B3-BFB315242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8E1E3B-3D23-E9F2-79CC-D3F8F0CAE6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26C04C-8A74-D2F2-DCAD-A221F63BEC1A}"/>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665311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B2E"/>
        </a:solidFill>
        <a:effectLst/>
      </p:bgPr>
    </p:bg>
    <p:spTree>
      <p:nvGrpSpPr>
        <p:cNvPr id="1" name=""/>
        <p:cNvGrpSpPr/>
        <p:nvPr/>
      </p:nvGrpSpPr>
      <p:grpSpPr>
        <a:xfrm>
          <a:off x="0" y="0"/>
          <a:ext cx="0" cy="0"/>
          <a:chOff x="0" y="0"/>
          <a:chExt cx="0" cy="0"/>
        </a:xfrm>
      </p:grpSpPr>
      <p:sp>
        <p:nvSpPr>
          <p:cNvPr id="2" name="Shape 0"/>
          <p:cNvSpPr/>
          <p:nvPr/>
        </p:nvSpPr>
        <p:spPr>
          <a:xfrm>
            <a:off x="8961120" y="-2011680"/>
            <a:ext cx="6400800" cy="6400800"/>
          </a:xfrm>
          <a:prstGeom prst="ellipse">
            <a:avLst/>
          </a:prstGeom>
          <a:solidFill>
            <a:srgbClr val="00704A">
              <a:alpha val="40000"/>
            </a:srgbClr>
          </a:solidFill>
          <a:ln/>
        </p:spPr>
        <p:txBody>
          <a:bodyPr/>
          <a:lstStyle/>
          <a:p>
            <a:endParaRPr lang="en-IN"/>
          </a:p>
        </p:txBody>
      </p:sp>
      <p:sp>
        <p:nvSpPr>
          <p:cNvPr id="3" name="Shape 1"/>
          <p:cNvSpPr/>
          <p:nvPr/>
        </p:nvSpPr>
        <p:spPr>
          <a:xfrm>
            <a:off x="-2286000" y="4389120"/>
            <a:ext cx="5486400" cy="5486400"/>
          </a:xfrm>
          <a:prstGeom prst="ellipse">
            <a:avLst/>
          </a:prstGeom>
          <a:solidFill>
            <a:srgbClr val="00704A">
              <a:alpha val="30000"/>
            </a:srgbClr>
          </a:solidFill>
          <a:ln/>
        </p:spPr>
        <p:txBody>
          <a:bodyPr/>
          <a:lstStyle/>
          <a:p>
            <a:endParaRPr lang="en-IN"/>
          </a:p>
        </p:txBody>
      </p:sp>
      <p:sp>
        <p:nvSpPr>
          <p:cNvPr id="4" name="Text 2"/>
          <p:cNvSpPr/>
          <p:nvPr/>
        </p:nvSpPr>
        <p:spPr>
          <a:xfrm>
            <a:off x="822960" y="1828800"/>
            <a:ext cx="7315200" cy="365760"/>
          </a:xfrm>
          <a:prstGeom prst="rect">
            <a:avLst/>
          </a:prstGeom>
          <a:noFill/>
          <a:ln/>
        </p:spPr>
        <p:txBody>
          <a:bodyPr wrap="square" rtlCol="0" anchor="ctr"/>
          <a:lstStyle/>
          <a:p>
            <a:pPr marL="0" indent="0">
              <a:buNone/>
            </a:pPr>
            <a:r>
              <a:rPr lang="en-US" sz="1400" b="1" kern="0" spc="300" dirty="0">
                <a:solidFill>
                  <a:srgbClr val="C9A24B"/>
                </a:solidFill>
                <a:latin typeface="Calibri" pitchFamily="34" charset="0"/>
                <a:ea typeface="Calibri" pitchFamily="34" charset="-122"/>
                <a:cs typeface="Calibri" pitchFamily="34" charset="-120"/>
              </a:rPr>
              <a:t>POWER BI PROJECT</a:t>
            </a:r>
            <a:endParaRPr lang="en-US" sz="1400" dirty="0"/>
          </a:p>
        </p:txBody>
      </p:sp>
      <p:sp>
        <p:nvSpPr>
          <p:cNvPr id="5" name="Text 3"/>
          <p:cNvSpPr/>
          <p:nvPr/>
        </p:nvSpPr>
        <p:spPr>
          <a:xfrm>
            <a:off x="822960" y="2240280"/>
            <a:ext cx="9875520" cy="1737360"/>
          </a:xfrm>
          <a:prstGeom prst="rect">
            <a:avLst/>
          </a:prstGeom>
          <a:noFill/>
          <a:ln/>
        </p:spPr>
        <p:txBody>
          <a:bodyPr wrap="square" rtlCol="0" anchor="ctr"/>
          <a:lstStyle/>
          <a:p>
            <a:pPr marL="0" indent="0">
              <a:lnSpc>
                <a:spcPct val="105000"/>
              </a:lnSpc>
              <a:buNone/>
            </a:pPr>
            <a:r>
              <a:rPr lang="en-US" sz="4000" b="1" dirty="0">
                <a:solidFill>
                  <a:srgbClr val="FFFFFF"/>
                </a:solidFill>
                <a:latin typeface="Calibri" pitchFamily="34" charset="0"/>
                <a:ea typeface="Calibri" pitchFamily="34" charset="-122"/>
                <a:cs typeface="Calibri" pitchFamily="34" charset="-120"/>
              </a:rPr>
              <a:t>STARBUCKS CUSTOMER</a:t>
            </a:r>
            <a:endParaRPr lang="en-US" sz="4000" dirty="0"/>
          </a:p>
          <a:p>
            <a:pPr marL="0" indent="0">
              <a:lnSpc>
                <a:spcPct val="105000"/>
              </a:lnSpc>
              <a:buNone/>
            </a:pPr>
            <a:r>
              <a:rPr lang="en-US" sz="4000" b="1" dirty="0">
                <a:solidFill>
                  <a:srgbClr val="FFFFFF"/>
                </a:solidFill>
                <a:latin typeface="Calibri" pitchFamily="34" charset="0"/>
                <a:ea typeface="Calibri" pitchFamily="34" charset="-122"/>
                <a:cs typeface="Calibri" pitchFamily="34" charset="-120"/>
              </a:rPr>
              <a:t>ORDERING PATTERN ANALYSIS</a:t>
            </a:r>
            <a:endParaRPr lang="en-US" sz="4000" dirty="0"/>
          </a:p>
        </p:txBody>
      </p:sp>
      <p:sp>
        <p:nvSpPr>
          <p:cNvPr id="6" name="Text 4"/>
          <p:cNvSpPr/>
          <p:nvPr/>
        </p:nvSpPr>
        <p:spPr>
          <a:xfrm>
            <a:off x="822960" y="3977640"/>
            <a:ext cx="9144000" cy="548640"/>
          </a:xfrm>
          <a:prstGeom prst="rect">
            <a:avLst/>
          </a:prstGeom>
          <a:noFill/>
          <a:ln/>
        </p:spPr>
        <p:txBody>
          <a:bodyPr wrap="square" rtlCol="0" anchor="ctr"/>
          <a:lstStyle/>
          <a:p>
            <a:pPr marL="0" indent="0">
              <a:buNone/>
            </a:pPr>
            <a:r>
              <a:rPr lang="en-US" sz="1600" i="1" dirty="0">
                <a:solidFill>
                  <a:srgbClr val="EAF3EF"/>
                </a:solidFill>
                <a:latin typeface="Calibri" pitchFamily="34" charset="0"/>
                <a:ea typeface="Calibri" pitchFamily="34" charset="-122"/>
                <a:cs typeface="Calibri" pitchFamily="34" charset="-120"/>
              </a:rPr>
              <a:t>Analyzing Customer Orders, Sales Trends and Customer Satisfaction using Power BI</a:t>
            </a:r>
            <a:endParaRPr lang="en-US" sz="1600" dirty="0"/>
          </a:p>
        </p:txBody>
      </p:sp>
      <p:sp>
        <p:nvSpPr>
          <p:cNvPr id="7" name="Shape 5"/>
          <p:cNvSpPr/>
          <p:nvPr/>
        </p:nvSpPr>
        <p:spPr>
          <a:xfrm>
            <a:off x="822960" y="4709160"/>
            <a:ext cx="2011680" cy="0"/>
          </a:xfrm>
          <a:prstGeom prst="line">
            <a:avLst/>
          </a:prstGeom>
          <a:noFill/>
          <a:ln w="25400">
            <a:solidFill>
              <a:srgbClr val="C9A24B"/>
            </a:solidFill>
            <a:prstDash val="solid"/>
          </a:ln>
        </p:spPr>
        <p:txBody>
          <a:bodyPr/>
          <a:lstStyle/>
          <a:p>
            <a:endParaRPr lang="en-IN"/>
          </a:p>
        </p:txBody>
      </p:sp>
      <p:sp>
        <p:nvSpPr>
          <p:cNvPr id="8" name="Text 6"/>
          <p:cNvSpPr/>
          <p:nvPr/>
        </p:nvSpPr>
        <p:spPr>
          <a:xfrm>
            <a:off x="822960" y="4892040"/>
            <a:ext cx="7315200" cy="320040"/>
          </a:xfrm>
          <a:prstGeom prst="rect">
            <a:avLst/>
          </a:prstGeom>
          <a:noFill/>
          <a:ln/>
        </p:spPr>
        <p:txBody>
          <a:bodyPr wrap="square" rtlCol="0" anchor="ctr"/>
          <a:lstStyle/>
          <a:p>
            <a:pPr marL="0" indent="0">
              <a:buNone/>
            </a:pPr>
            <a:endParaRPr lang="en-US" sz="1100" dirty="0"/>
          </a:p>
        </p:txBody>
      </p:sp>
      <p:sp>
        <p:nvSpPr>
          <p:cNvPr id="10" name="Text 8"/>
          <p:cNvSpPr/>
          <p:nvPr/>
        </p:nvSpPr>
        <p:spPr>
          <a:xfrm>
            <a:off x="822960" y="5257800"/>
            <a:ext cx="1965960" cy="502920"/>
          </a:xfrm>
          <a:prstGeom prst="rect">
            <a:avLst/>
          </a:prstGeom>
          <a:noFill/>
          <a:ln/>
        </p:spPr>
        <p:txBody>
          <a:bodyPr wrap="square" rtlCol="0" anchor="ctr"/>
          <a:lstStyle/>
          <a:p>
            <a:pPr marL="0" indent="0" algn="ctr">
              <a:buNone/>
            </a:pPr>
            <a:endParaRPr lang="en-US" sz="1200" dirty="0"/>
          </a:p>
        </p:txBody>
      </p:sp>
      <p:sp>
        <p:nvSpPr>
          <p:cNvPr id="12" name="Text 10"/>
          <p:cNvSpPr/>
          <p:nvPr/>
        </p:nvSpPr>
        <p:spPr>
          <a:xfrm>
            <a:off x="2971800" y="5257800"/>
            <a:ext cx="1965960" cy="502920"/>
          </a:xfrm>
          <a:prstGeom prst="rect">
            <a:avLst/>
          </a:prstGeom>
          <a:noFill/>
          <a:ln/>
        </p:spPr>
        <p:txBody>
          <a:bodyPr wrap="square" rtlCol="0" anchor="ctr"/>
          <a:lstStyle/>
          <a:p>
            <a:pPr marL="0" indent="0" algn="ctr">
              <a:buNone/>
            </a:pPr>
            <a:endParaRPr lang="en-US" sz="1200" dirty="0"/>
          </a:p>
        </p:txBody>
      </p:sp>
      <p:sp>
        <p:nvSpPr>
          <p:cNvPr id="14" name="Text 12"/>
          <p:cNvSpPr/>
          <p:nvPr/>
        </p:nvSpPr>
        <p:spPr>
          <a:xfrm>
            <a:off x="5120640" y="5257800"/>
            <a:ext cx="1965960" cy="502920"/>
          </a:xfrm>
          <a:prstGeom prst="rect">
            <a:avLst/>
          </a:prstGeom>
          <a:noFill/>
          <a:ln/>
        </p:spPr>
        <p:txBody>
          <a:bodyPr wrap="square" rtlCol="0" anchor="ctr"/>
          <a:lstStyle/>
          <a:p>
            <a:pPr marL="0" indent="0" algn="ctr">
              <a:buNone/>
            </a:pPr>
            <a:endParaRPr lang="en-US" sz="1200" dirty="0"/>
          </a:p>
        </p:txBody>
      </p:sp>
      <p:sp>
        <p:nvSpPr>
          <p:cNvPr id="15" name="Text 13"/>
          <p:cNvSpPr/>
          <p:nvPr/>
        </p:nvSpPr>
        <p:spPr>
          <a:xfrm>
            <a:off x="822960" y="6035040"/>
            <a:ext cx="5486400" cy="365760"/>
          </a:xfrm>
          <a:prstGeom prst="rect">
            <a:avLst/>
          </a:prstGeom>
          <a:noFill/>
          <a:ln/>
        </p:spPr>
        <p:txBody>
          <a:bodyPr wrap="square" rtlCol="0" anchor="ctr"/>
          <a:lstStyle/>
          <a:p>
            <a:pPr marL="0" indent="0">
              <a:buNone/>
            </a:pPr>
            <a:r>
              <a:rPr lang="en-US" sz="1200" dirty="0">
                <a:solidFill>
                  <a:srgbClr val="EAF3EF"/>
                </a:solidFill>
                <a:latin typeface="Calibri" pitchFamily="34" charset="0"/>
                <a:ea typeface="Calibri" pitchFamily="34" charset="-122"/>
                <a:cs typeface="Calibri" pitchFamily="34" charset="-120"/>
              </a:rPr>
              <a:t>Prepared by: Gokila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endParaRPr lang="en-US" sz="1300" dirty="0"/>
          </a:p>
        </p:txBody>
      </p:sp>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200" b="1" dirty="0">
                <a:solidFill>
                  <a:srgbClr val="0C3B2E"/>
                </a:solidFill>
                <a:latin typeface="Times New Roman" panose="02020603050405020304" pitchFamily="18" charset="0"/>
                <a:ea typeface="Calibri" pitchFamily="34" charset="-122"/>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548639" y="1554480"/>
            <a:ext cx="9385069" cy="4572000"/>
          </a:xfrm>
          <a:prstGeom prst="rect">
            <a:avLst/>
          </a:prstGeom>
          <a:noFill/>
          <a:ln/>
        </p:spPr>
        <p:txBody>
          <a:bodyPr wrap="square" rtlCol="0" anchor="t"/>
          <a:lstStyle/>
          <a:p>
            <a:pPr marL="228600" indent="-228600">
              <a:lnSpc>
                <a:spcPct val="200000"/>
              </a:lnSpc>
              <a:spcAft>
                <a:spcPts val="1000"/>
              </a:spcAft>
              <a:buSzPct val="100000"/>
              <a:buChar char="▪"/>
            </a:pPr>
            <a:r>
              <a:rPr lang="en-US" dirty="0">
                <a:solidFill>
                  <a:srgbClr val="1A1A1A"/>
                </a:solidFill>
                <a:latin typeface="Calibri" pitchFamily="34" charset="0"/>
                <a:ea typeface="Calibri" pitchFamily="34" charset="-122"/>
                <a:cs typeface="Calibri" pitchFamily="34" charset="-120"/>
              </a:rPr>
              <a:t>Starbucks generates customer orders through different ordering channels.</a:t>
            </a:r>
            <a:endParaRPr lang="en-US" dirty="0"/>
          </a:p>
          <a:p>
            <a:pPr marL="228600" indent="-228600">
              <a:lnSpc>
                <a:spcPct val="200000"/>
              </a:lnSpc>
              <a:spcAft>
                <a:spcPts val="1000"/>
              </a:spcAft>
              <a:buSzPct val="100000"/>
              <a:buChar char="▪"/>
            </a:pPr>
            <a:r>
              <a:rPr lang="en-US" dirty="0">
                <a:solidFill>
                  <a:srgbClr val="1A1A1A"/>
                </a:solidFill>
                <a:latin typeface="Calibri" pitchFamily="34" charset="0"/>
                <a:ea typeface="Calibri" pitchFamily="34" charset="-122"/>
                <a:cs typeface="Calibri" pitchFamily="34" charset="-120"/>
              </a:rPr>
              <a:t>Customer ordering behavior can vary based on time, drink category, age group and membership.</a:t>
            </a:r>
            <a:endParaRPr lang="en-US" dirty="0"/>
          </a:p>
          <a:p>
            <a:pPr marL="228600" indent="-228600">
              <a:lnSpc>
                <a:spcPct val="200000"/>
              </a:lnSpc>
              <a:spcAft>
                <a:spcPts val="1000"/>
              </a:spcAft>
              <a:buSzPct val="100000"/>
              <a:buChar char="▪"/>
            </a:pPr>
            <a:r>
              <a:rPr lang="en-US" dirty="0">
                <a:solidFill>
                  <a:srgbClr val="1A1A1A"/>
                </a:solidFill>
                <a:latin typeface="Calibri" pitchFamily="34" charset="0"/>
                <a:ea typeface="Calibri" pitchFamily="34" charset="-122"/>
                <a:cs typeface="Calibri" pitchFamily="34" charset="-120"/>
              </a:rPr>
              <a:t>This project analyzes Starbucks customer ordering data to identify important sales and customer behavior patterns.</a:t>
            </a:r>
            <a:endParaRPr lang="en-US" dirty="0"/>
          </a:p>
          <a:p>
            <a:pPr marL="228600" indent="-228600">
              <a:lnSpc>
                <a:spcPct val="200000"/>
              </a:lnSpc>
              <a:spcAft>
                <a:spcPts val="1000"/>
              </a:spcAft>
              <a:buSzPct val="100000"/>
              <a:buChar char="▪"/>
            </a:pPr>
            <a:r>
              <a:rPr lang="en-US" dirty="0">
                <a:solidFill>
                  <a:srgbClr val="1A1A1A"/>
                </a:solidFill>
                <a:latin typeface="Calibri" pitchFamily="34" charset="0"/>
                <a:ea typeface="Calibri" pitchFamily="34" charset="-122"/>
                <a:cs typeface="Calibri" pitchFamily="34" charset="-120"/>
              </a:rPr>
              <a:t>Power BI is used to transform the raw data into an interactive dashboard.</a:t>
            </a:r>
            <a:endParaRPr lang="en-US" dirty="0"/>
          </a:p>
          <a:p>
            <a:pPr marL="228600" indent="-228600">
              <a:lnSpc>
                <a:spcPct val="200000"/>
              </a:lnSpc>
              <a:spcAft>
                <a:spcPts val="1000"/>
              </a:spcAft>
              <a:buSzPct val="100000"/>
              <a:buChar char="▪"/>
            </a:pPr>
            <a:r>
              <a:rPr lang="en-US" dirty="0">
                <a:solidFill>
                  <a:srgbClr val="1A1A1A"/>
                </a:solidFill>
                <a:latin typeface="Calibri" pitchFamily="34" charset="0"/>
                <a:ea typeface="Calibri" pitchFamily="34" charset="-122"/>
                <a:cs typeface="Calibri" pitchFamily="34" charset="-120"/>
              </a:rPr>
              <a:t>The dashboard helps to understand sales performance, ordering trends and customer satisfaction.</a:t>
            </a:r>
            <a:endParaRPr lang="en-US" dirty="0"/>
          </a:p>
        </p:txBody>
      </p:sp>
      <p:sp>
        <p:nvSpPr>
          <p:cNvPr id="6" name="Text 4"/>
          <p:cNvSpPr/>
          <p:nvPr/>
        </p:nvSpPr>
        <p:spPr>
          <a:xfrm>
            <a:off x="6858000" y="1828800"/>
            <a:ext cx="4389120" cy="320040"/>
          </a:xfrm>
          <a:prstGeom prst="rect">
            <a:avLst/>
          </a:prstGeom>
          <a:noFill/>
          <a:ln/>
        </p:spPr>
        <p:txBody>
          <a:bodyPr wrap="square" rtlCol="0" anchor="ctr"/>
          <a:lstStyle/>
          <a:p>
            <a:pPr marL="0" indent="0">
              <a:buNone/>
            </a:pPr>
            <a:endParaRPr lang="en-US" sz="1200" dirty="0"/>
          </a:p>
        </p:txBody>
      </p:sp>
      <p:sp>
        <p:nvSpPr>
          <p:cNvPr id="21" name="Text 19"/>
          <p:cNvSpPr/>
          <p:nvPr/>
        </p:nvSpPr>
        <p:spPr>
          <a:xfrm>
            <a:off x="548640" y="5623560"/>
            <a:ext cx="5760720" cy="822960"/>
          </a:xfrm>
          <a:prstGeom prst="rect">
            <a:avLst/>
          </a:prstGeom>
          <a:noFill/>
          <a:ln/>
        </p:spPr>
        <p:txBody>
          <a:bodyPr wrap="square" rtlCol="0" anchor="ctr"/>
          <a:lstStyle/>
          <a:p>
            <a:pPr marL="0" indent="0">
              <a:buNone/>
            </a:pPr>
            <a:endParaRPr lang="en-US" sz="1100" dirty="0"/>
          </a:p>
        </p:txBody>
      </p:sp>
      <p:sp>
        <p:nvSpPr>
          <p:cNvPr id="22" name="Text 20"/>
          <p:cNvSpPr/>
          <p:nvPr/>
        </p:nvSpPr>
        <p:spPr>
          <a:xfrm>
            <a:off x="548640" y="6537960"/>
            <a:ext cx="7315200" cy="274320"/>
          </a:xfrm>
          <a:prstGeom prst="rect">
            <a:avLst/>
          </a:prstGeom>
          <a:noFill/>
          <a:ln/>
        </p:spPr>
        <p:txBody>
          <a:bodyPr wrap="square" rtlCol="0" anchor="ctr"/>
          <a:lstStyle/>
          <a:p>
            <a:pPr marL="0" indent="0">
              <a:buNone/>
            </a:pPr>
            <a:endParaRPr lang="en-US" sz="900" dirty="0"/>
          </a:p>
        </p:txBody>
      </p:sp>
      <p:sp>
        <p:nvSpPr>
          <p:cNvPr id="23" name="Text 2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Problem Statement</a:t>
            </a:r>
            <a:endParaRPr lang="en-US" sz="3000" dirty="0"/>
          </a:p>
        </p:txBody>
      </p:sp>
      <p:sp>
        <p:nvSpPr>
          <p:cNvPr id="4" name="Text 2"/>
          <p:cNvSpPr/>
          <p:nvPr/>
        </p:nvSpPr>
        <p:spPr>
          <a:xfrm>
            <a:off x="548640" y="1773382"/>
            <a:ext cx="11064240" cy="2770908"/>
          </a:xfrm>
          <a:prstGeom prst="rect">
            <a:avLst/>
          </a:prstGeom>
          <a:noFill/>
          <a:ln/>
        </p:spPr>
        <p:txBody>
          <a:bodyPr wrap="square" rtlCol="0" anchor="ctr"/>
          <a:lstStyle/>
          <a:p>
            <a:pPr>
              <a:lnSpc>
                <a:spcPct val="150000"/>
              </a:lnSpc>
            </a:pPr>
            <a:r>
              <a:rPr lang="en-IN" sz="2400" dirty="0"/>
              <a:t>Starbucks receives a large number of customer orders through different channels every day. It is difficult to understand customer ordering </a:t>
            </a:r>
            <a:r>
              <a:rPr lang="en-IN" sz="2400" dirty="0" err="1"/>
              <a:t>behavior</a:t>
            </a:r>
            <a:r>
              <a:rPr lang="en-IN" sz="2400" dirty="0"/>
              <a:t>, spending patterns, peak ordering times, and customer satisfaction from raw data. This project </a:t>
            </a:r>
            <a:r>
              <a:rPr lang="en-IN" sz="2400" dirty="0" err="1"/>
              <a:t>analyzes</a:t>
            </a:r>
            <a:r>
              <a:rPr lang="en-IN" sz="2400" dirty="0"/>
              <a:t> Starbucks customer order data using Power BI to identify important sales and customer </a:t>
            </a:r>
            <a:r>
              <a:rPr lang="en-IN" sz="2400" dirty="0" err="1"/>
              <a:t>behavior</a:t>
            </a:r>
            <a:r>
              <a:rPr lang="en-IN" sz="2400" dirty="0"/>
              <a:t> patterns. The insights can help Starbucks improve sales performance, operational efficiency, and customer experience.</a:t>
            </a:r>
            <a:endParaRPr lang="en-US" sz="2400" dirty="0"/>
          </a:p>
        </p:txBody>
      </p:sp>
      <p:sp>
        <p:nvSpPr>
          <p:cNvPr id="18" name="Text 16"/>
          <p:cNvSpPr/>
          <p:nvPr/>
        </p:nvSpPr>
        <p:spPr>
          <a:xfrm>
            <a:off x="685800" y="4389120"/>
            <a:ext cx="548640" cy="868680"/>
          </a:xfrm>
          <a:prstGeom prst="rect">
            <a:avLst/>
          </a:prstGeom>
          <a:noFill/>
          <a:ln/>
        </p:spPr>
        <p:txBody>
          <a:bodyPr wrap="square" rtlCol="0" anchor="ctr"/>
          <a:lstStyle/>
          <a:p>
            <a:pPr marL="0" indent="0">
              <a:buNone/>
            </a:pPr>
            <a:endParaRPr lang="en-US" sz="1600" dirty="0"/>
          </a:p>
        </p:txBody>
      </p:sp>
      <p:sp>
        <p:nvSpPr>
          <p:cNvPr id="29" name="Text 27"/>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30" name="Text 28"/>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endParaRPr lang="en-US" sz="1300" dirty="0"/>
          </a:p>
        </p:txBody>
      </p:sp>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Raw Data Analysis</a:t>
            </a:r>
            <a:endParaRPr lang="en-US" sz="3000" dirty="0"/>
          </a:p>
        </p:txBody>
      </p:sp>
      <p:sp>
        <p:nvSpPr>
          <p:cNvPr id="4" name="Text 2"/>
          <p:cNvSpPr/>
          <p:nvPr/>
        </p:nvSpPr>
        <p:spPr>
          <a:xfrm>
            <a:off x="548640" y="1417320"/>
            <a:ext cx="10972800" cy="320040"/>
          </a:xfrm>
          <a:prstGeom prst="rect">
            <a:avLst/>
          </a:prstGeom>
          <a:noFill/>
          <a:ln/>
        </p:spPr>
        <p:txBody>
          <a:bodyPr wrap="square" rtlCol="0" anchor="ctr"/>
          <a:lstStyle/>
          <a:p>
            <a:pPr marL="0" indent="0">
              <a:buNone/>
            </a:pPr>
            <a:r>
              <a:rPr lang="en-US" sz="1300" i="1" dirty="0">
                <a:solidFill>
                  <a:srgbClr val="5B6B66"/>
                </a:solidFill>
                <a:latin typeface="Calibri" pitchFamily="34" charset="0"/>
                <a:ea typeface="Calibri" pitchFamily="34" charset="-122"/>
                <a:cs typeface="Calibri" pitchFamily="34" charset="-120"/>
              </a:rPr>
              <a:t>The raw dataset contains order-level customer information.</a:t>
            </a:r>
            <a:endParaRPr lang="en-US" sz="1300" dirty="0"/>
          </a:p>
        </p:txBody>
      </p:sp>
      <p:sp>
        <p:nvSpPr>
          <p:cNvPr id="5" name="Shape 3"/>
          <p:cNvSpPr/>
          <p:nvPr/>
        </p:nvSpPr>
        <p:spPr>
          <a:xfrm>
            <a:off x="502920" y="1828800"/>
            <a:ext cx="7223760" cy="5029200"/>
          </a:xfrm>
          <a:prstGeom prst="roundRect">
            <a:avLst>
              <a:gd name="adj" fmla="val 2105"/>
            </a:avLst>
          </a:prstGeom>
          <a:solidFill>
            <a:srgbClr val="FFFFFF"/>
          </a:solidFill>
          <a:ln w="19050">
            <a:solidFill>
              <a:srgbClr val="EAF3EF"/>
            </a:solidFill>
            <a:prstDash val="solid"/>
          </a:ln>
        </p:spPr>
        <p:txBody>
          <a:bodyPr/>
          <a:lstStyle/>
          <a:p>
            <a:r>
              <a:rPr lang="en-US">
                <a:solidFill>
                  <a:srgbClr val="FFFFFF"/>
                </a:solidFill>
                <a:latin typeface="Calibri" pitchFamily="34" charset="0"/>
                <a:ea typeface="Calibri" pitchFamily="34" charset="-122"/>
                <a:cs typeface="Calibri" pitchFamily="34" charset="-120"/>
              </a:rPr>
              <a:t>Customer age group</a:t>
            </a:r>
            <a:endParaRPr lang="en-US" dirty="0"/>
          </a:p>
        </p:txBody>
      </p:sp>
      <p:sp>
        <p:nvSpPr>
          <p:cNvPr id="6" name="Shape 4"/>
          <p:cNvSpPr/>
          <p:nvPr/>
        </p:nvSpPr>
        <p:spPr>
          <a:xfrm>
            <a:off x="502920" y="1828800"/>
            <a:ext cx="7223760" cy="457200"/>
          </a:xfrm>
          <a:prstGeom prst="roundRect">
            <a:avLst>
              <a:gd name="adj" fmla="val 20000"/>
            </a:avLst>
          </a:prstGeom>
          <a:solidFill>
            <a:srgbClr val="00704A"/>
          </a:solidFill>
          <a:ln/>
        </p:spPr>
        <p:txBody>
          <a:bodyPr/>
          <a:lstStyle/>
          <a:p>
            <a:endParaRPr lang="en-IN"/>
          </a:p>
        </p:txBody>
      </p:sp>
      <p:sp>
        <p:nvSpPr>
          <p:cNvPr id="7" name="Text 5"/>
          <p:cNvSpPr/>
          <p:nvPr/>
        </p:nvSpPr>
        <p:spPr>
          <a:xfrm>
            <a:off x="640080" y="1828800"/>
            <a:ext cx="694944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IMPORTANT COLUMNS</a:t>
            </a:r>
            <a:endParaRPr lang="en-US" sz="1300" dirty="0"/>
          </a:p>
        </p:txBody>
      </p:sp>
      <p:sp>
        <p:nvSpPr>
          <p:cNvPr id="8" name="Text 6"/>
          <p:cNvSpPr/>
          <p:nvPr/>
        </p:nvSpPr>
        <p:spPr>
          <a:xfrm>
            <a:off x="685800" y="2423160"/>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order_id  </a:t>
            </a:r>
            <a:r>
              <a:rPr lang="en-US" sz="1400" dirty="0">
                <a:solidFill>
                  <a:srgbClr val="5B6B66"/>
                </a:solidFill>
                <a:latin typeface="Calibri" pitchFamily="34" charset="0"/>
                <a:ea typeface="Calibri" pitchFamily="34" charset="-122"/>
                <a:cs typeface="Calibri" pitchFamily="34" charset="-120"/>
              </a:rPr>
              <a:t>Unique ID for each order</a:t>
            </a:r>
            <a:endParaRPr lang="en-US" sz="1400" dirty="0"/>
          </a:p>
        </p:txBody>
      </p:sp>
      <p:sp>
        <p:nvSpPr>
          <p:cNvPr id="9" name="Text 7"/>
          <p:cNvSpPr/>
          <p:nvPr/>
        </p:nvSpPr>
        <p:spPr>
          <a:xfrm>
            <a:off x="685800" y="2990088"/>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customer_id  </a:t>
            </a:r>
            <a:r>
              <a:rPr lang="en-US" sz="1400" dirty="0">
                <a:solidFill>
                  <a:srgbClr val="5B6B66"/>
                </a:solidFill>
                <a:latin typeface="Calibri" pitchFamily="34" charset="0"/>
                <a:ea typeface="Calibri" pitchFamily="34" charset="-122"/>
                <a:cs typeface="Calibri" pitchFamily="34" charset="-120"/>
              </a:rPr>
              <a:t>Identifies the customer</a:t>
            </a:r>
            <a:endParaRPr lang="en-US" sz="1400" dirty="0"/>
          </a:p>
        </p:txBody>
      </p:sp>
      <p:sp>
        <p:nvSpPr>
          <p:cNvPr id="10" name="Text 8"/>
          <p:cNvSpPr/>
          <p:nvPr/>
        </p:nvSpPr>
        <p:spPr>
          <a:xfrm>
            <a:off x="685800" y="3557016"/>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store_id  </a:t>
            </a:r>
            <a:r>
              <a:rPr lang="en-US" sz="1400" dirty="0">
                <a:solidFill>
                  <a:srgbClr val="5B6B66"/>
                </a:solidFill>
                <a:latin typeface="Calibri" pitchFamily="34" charset="0"/>
                <a:ea typeface="Calibri" pitchFamily="34" charset="-122"/>
                <a:cs typeface="Calibri" pitchFamily="34" charset="-120"/>
              </a:rPr>
              <a:t>Identifies the Starbucks store</a:t>
            </a:r>
            <a:endParaRPr lang="en-US" sz="1400" dirty="0"/>
          </a:p>
        </p:txBody>
      </p:sp>
      <p:sp>
        <p:nvSpPr>
          <p:cNvPr id="11" name="Text 9"/>
          <p:cNvSpPr/>
          <p:nvPr/>
        </p:nvSpPr>
        <p:spPr>
          <a:xfrm>
            <a:off x="685800" y="4123944"/>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order_date  </a:t>
            </a:r>
            <a:r>
              <a:rPr lang="en-US" sz="1400" dirty="0">
                <a:solidFill>
                  <a:srgbClr val="5B6B66"/>
                </a:solidFill>
                <a:latin typeface="Calibri" pitchFamily="34" charset="0"/>
                <a:ea typeface="Calibri" pitchFamily="34" charset="-122"/>
                <a:cs typeface="Calibri" pitchFamily="34" charset="-120"/>
              </a:rPr>
              <a:t>Date when the order was placed</a:t>
            </a:r>
            <a:endParaRPr lang="en-US" sz="1400" dirty="0"/>
          </a:p>
        </p:txBody>
      </p:sp>
      <p:sp>
        <p:nvSpPr>
          <p:cNvPr id="12" name="Text 10"/>
          <p:cNvSpPr/>
          <p:nvPr/>
        </p:nvSpPr>
        <p:spPr>
          <a:xfrm>
            <a:off x="685800" y="4690872"/>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order_hour  </a:t>
            </a:r>
            <a:r>
              <a:rPr lang="en-US" sz="1400" dirty="0">
                <a:solidFill>
                  <a:srgbClr val="5B6B66"/>
                </a:solidFill>
                <a:latin typeface="Calibri" pitchFamily="34" charset="0"/>
                <a:ea typeface="Calibri" pitchFamily="34" charset="-122"/>
                <a:cs typeface="Calibri" pitchFamily="34" charset="-120"/>
              </a:rPr>
              <a:t>Hour when the order was placed</a:t>
            </a:r>
            <a:endParaRPr lang="en-US" sz="1400" dirty="0"/>
          </a:p>
        </p:txBody>
      </p:sp>
      <p:sp>
        <p:nvSpPr>
          <p:cNvPr id="13" name="Text 11"/>
          <p:cNvSpPr/>
          <p:nvPr/>
        </p:nvSpPr>
        <p:spPr>
          <a:xfrm>
            <a:off x="685800" y="5257800"/>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order_channel  </a:t>
            </a:r>
            <a:r>
              <a:rPr lang="en-US" sz="1400" dirty="0">
                <a:solidFill>
                  <a:srgbClr val="5B6B66"/>
                </a:solidFill>
                <a:latin typeface="Calibri" pitchFamily="34" charset="0"/>
                <a:ea typeface="Calibri" pitchFamily="34" charset="-122"/>
                <a:cs typeface="Calibri" pitchFamily="34" charset="-120"/>
              </a:rPr>
              <a:t>Channel used for ordering</a:t>
            </a:r>
          </a:p>
          <a:p>
            <a:pPr marL="0" indent="0">
              <a:lnSpc>
                <a:spcPct val="100000"/>
              </a:lnSpc>
              <a:buNone/>
            </a:pPr>
            <a:endParaRPr lang="en-US" sz="1400" dirty="0">
              <a:solidFill>
                <a:srgbClr val="5B6B66"/>
              </a:solidFill>
              <a:latin typeface="Calibri" pitchFamily="34" charset="0"/>
              <a:ea typeface="Calibri" pitchFamily="34" charset="-122"/>
              <a:cs typeface="Calibri" pitchFamily="34" charset="-120"/>
            </a:endParaRPr>
          </a:p>
          <a:p>
            <a:pPr marL="0" indent="0">
              <a:lnSpc>
                <a:spcPct val="100000"/>
              </a:lnSpc>
              <a:buNone/>
            </a:pPr>
            <a:endParaRPr lang="en-US" sz="1400" b="1" dirty="0"/>
          </a:p>
          <a:p>
            <a:pPr marL="0" indent="0">
              <a:lnSpc>
                <a:spcPct val="100000"/>
              </a:lnSpc>
              <a:buNone/>
            </a:pPr>
            <a:endParaRPr lang="en-US" sz="1400" dirty="0"/>
          </a:p>
          <a:p>
            <a:pPr marL="0" indent="0">
              <a:lnSpc>
                <a:spcPct val="100000"/>
              </a:lnSpc>
              <a:buNone/>
            </a:pPr>
            <a:endParaRPr lang="en-US" sz="1400" dirty="0"/>
          </a:p>
        </p:txBody>
      </p:sp>
      <p:sp>
        <p:nvSpPr>
          <p:cNvPr id="14" name="Text 12"/>
          <p:cNvSpPr/>
          <p:nvPr/>
        </p:nvSpPr>
        <p:spPr>
          <a:xfrm>
            <a:off x="4297680" y="2423160"/>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drink_category  </a:t>
            </a:r>
            <a:r>
              <a:rPr lang="en-US" sz="1400" dirty="0">
                <a:solidFill>
                  <a:srgbClr val="5B6B66"/>
                </a:solidFill>
                <a:latin typeface="Calibri" pitchFamily="34" charset="0"/>
                <a:ea typeface="Calibri" pitchFamily="34" charset="-122"/>
                <a:cs typeface="Calibri" pitchFamily="34" charset="-120"/>
              </a:rPr>
              <a:t>Category of the drink</a:t>
            </a:r>
            <a:endParaRPr lang="en-US" sz="1400" dirty="0"/>
          </a:p>
        </p:txBody>
      </p:sp>
      <p:sp>
        <p:nvSpPr>
          <p:cNvPr id="15" name="Text 13"/>
          <p:cNvSpPr/>
          <p:nvPr/>
        </p:nvSpPr>
        <p:spPr>
          <a:xfrm>
            <a:off x="4297680" y="2990088"/>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total_spend  </a:t>
            </a:r>
            <a:r>
              <a:rPr lang="en-US" sz="1400" dirty="0">
                <a:solidFill>
                  <a:srgbClr val="5B6B66"/>
                </a:solidFill>
                <a:latin typeface="Calibri" pitchFamily="34" charset="0"/>
                <a:ea typeface="Calibri" pitchFamily="34" charset="-122"/>
                <a:cs typeface="Calibri" pitchFamily="34" charset="-120"/>
              </a:rPr>
              <a:t>Amount spent on the order</a:t>
            </a:r>
            <a:endParaRPr lang="en-US" sz="1400" dirty="0"/>
          </a:p>
        </p:txBody>
      </p:sp>
      <p:sp>
        <p:nvSpPr>
          <p:cNvPr id="16" name="Text 14"/>
          <p:cNvSpPr/>
          <p:nvPr/>
        </p:nvSpPr>
        <p:spPr>
          <a:xfrm>
            <a:off x="4297680" y="3557016"/>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cart_size  </a:t>
            </a:r>
            <a:r>
              <a:rPr lang="en-US" sz="1400" dirty="0">
                <a:solidFill>
                  <a:srgbClr val="5B6B66"/>
                </a:solidFill>
                <a:latin typeface="Calibri" pitchFamily="34" charset="0"/>
                <a:ea typeface="Calibri" pitchFamily="34" charset="-122"/>
                <a:cs typeface="Calibri" pitchFamily="34" charset="-120"/>
              </a:rPr>
              <a:t>Number/size of items in the order</a:t>
            </a:r>
            <a:endParaRPr lang="en-US" sz="1400" dirty="0"/>
          </a:p>
        </p:txBody>
      </p:sp>
      <p:sp>
        <p:nvSpPr>
          <p:cNvPr id="17" name="Text 15"/>
          <p:cNvSpPr/>
          <p:nvPr/>
        </p:nvSpPr>
        <p:spPr>
          <a:xfrm>
            <a:off x="4297680" y="4123944"/>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num_customizations  </a:t>
            </a:r>
            <a:r>
              <a:rPr lang="en-US" sz="1400" dirty="0">
                <a:solidFill>
                  <a:srgbClr val="5B6B66"/>
                </a:solidFill>
                <a:latin typeface="Calibri" pitchFamily="34" charset="0"/>
                <a:ea typeface="Calibri" pitchFamily="34" charset="-122"/>
                <a:cs typeface="Calibri" pitchFamily="34" charset="-120"/>
              </a:rPr>
              <a:t>Number of customizations</a:t>
            </a:r>
            <a:endParaRPr lang="en-US" sz="1400" dirty="0"/>
          </a:p>
        </p:txBody>
      </p:sp>
      <p:sp>
        <p:nvSpPr>
          <p:cNvPr id="18" name="Text 16"/>
          <p:cNvSpPr/>
          <p:nvPr/>
        </p:nvSpPr>
        <p:spPr>
          <a:xfrm>
            <a:off x="4297680" y="4690872"/>
            <a:ext cx="3429000" cy="566928"/>
          </a:xfrm>
          <a:prstGeom prst="rect">
            <a:avLst/>
          </a:prstGeom>
          <a:noFill/>
          <a:ln/>
        </p:spPr>
        <p:txBody>
          <a:bodyPr wrap="square" rtlCol="0" anchor="t"/>
          <a:lstStyle/>
          <a:p>
            <a:pPr marL="0" indent="0">
              <a:lnSpc>
                <a:spcPct val="100000"/>
              </a:lnSpc>
              <a:buNone/>
            </a:pPr>
            <a:r>
              <a:rPr lang="en-US" sz="1400" b="1" dirty="0">
                <a:solidFill>
                  <a:srgbClr val="0C3B2E"/>
                </a:solidFill>
                <a:latin typeface="Calibri" pitchFamily="34" charset="0"/>
                <a:ea typeface="Calibri" pitchFamily="34" charset="-122"/>
                <a:cs typeface="Calibri" pitchFamily="34" charset="-120"/>
              </a:rPr>
              <a:t>fulfillment_time_min  </a:t>
            </a:r>
            <a:r>
              <a:rPr lang="en-US" sz="1400" dirty="0">
                <a:solidFill>
                  <a:srgbClr val="5B6B66"/>
                </a:solidFill>
                <a:latin typeface="Calibri" pitchFamily="34" charset="0"/>
                <a:ea typeface="Calibri" pitchFamily="34" charset="-122"/>
                <a:cs typeface="Calibri" pitchFamily="34" charset="-120"/>
              </a:rPr>
              <a:t>Time taken to fulfill the order</a:t>
            </a:r>
            <a:endParaRPr lang="en-US" sz="1400" dirty="0"/>
          </a:p>
        </p:txBody>
      </p:sp>
      <p:sp>
        <p:nvSpPr>
          <p:cNvPr id="19" name="Text 17"/>
          <p:cNvSpPr/>
          <p:nvPr/>
        </p:nvSpPr>
        <p:spPr>
          <a:xfrm>
            <a:off x="4297680" y="5257800"/>
            <a:ext cx="3429000" cy="566928"/>
          </a:xfrm>
          <a:prstGeom prst="rect">
            <a:avLst/>
          </a:prstGeom>
          <a:noFill/>
          <a:ln/>
        </p:spPr>
        <p:txBody>
          <a:bodyPr wrap="square" rtlCol="0" anchor="t"/>
          <a:lstStyle/>
          <a:p>
            <a:pPr marL="0" indent="0">
              <a:lnSpc>
                <a:spcPct val="100000"/>
              </a:lnSpc>
              <a:buNone/>
            </a:pPr>
            <a:r>
              <a:rPr lang="en-US" sz="1400" b="1" dirty="0" err="1">
                <a:solidFill>
                  <a:srgbClr val="0C3B2E"/>
                </a:solidFill>
                <a:latin typeface="Calibri" pitchFamily="34" charset="0"/>
                <a:ea typeface="Calibri" pitchFamily="34" charset="-122"/>
                <a:cs typeface="Calibri" pitchFamily="34" charset="-120"/>
              </a:rPr>
              <a:t>customer_satisfaction</a:t>
            </a:r>
            <a:r>
              <a:rPr lang="en-US" sz="1400" b="1" dirty="0">
                <a:solidFill>
                  <a:srgbClr val="0C3B2E"/>
                </a:solidFill>
                <a:latin typeface="Calibri" pitchFamily="34" charset="0"/>
                <a:ea typeface="Calibri" pitchFamily="34" charset="-122"/>
                <a:cs typeface="Calibri" pitchFamily="34" charset="-120"/>
              </a:rPr>
              <a:t>  </a:t>
            </a:r>
            <a:r>
              <a:rPr lang="en-US" sz="1400" dirty="0">
                <a:solidFill>
                  <a:srgbClr val="5B6B66"/>
                </a:solidFill>
                <a:latin typeface="Calibri" pitchFamily="34" charset="0"/>
                <a:ea typeface="Calibri" pitchFamily="34" charset="-122"/>
                <a:cs typeface="Calibri" pitchFamily="34" charset="-120"/>
              </a:rPr>
              <a:t>Customer satisfaction score</a:t>
            </a:r>
          </a:p>
          <a:p>
            <a:pPr marL="0" indent="0">
              <a:lnSpc>
                <a:spcPct val="100000"/>
              </a:lnSpc>
              <a:buNone/>
            </a:pPr>
            <a:endParaRPr lang="en-US" sz="1400" dirty="0">
              <a:solidFill>
                <a:srgbClr val="5B6B66"/>
              </a:solidFill>
              <a:latin typeface="Calibri" pitchFamily="34" charset="0"/>
              <a:ea typeface="Calibri" pitchFamily="34" charset="-122"/>
              <a:cs typeface="Calibri" pitchFamily="34" charset="-120"/>
            </a:endParaRPr>
          </a:p>
          <a:p>
            <a:pPr marL="0" indent="0">
              <a:lnSpc>
                <a:spcPct val="100000"/>
              </a:lnSpc>
              <a:buNone/>
            </a:pPr>
            <a:endParaRPr lang="en-US" sz="1400" dirty="0"/>
          </a:p>
        </p:txBody>
      </p:sp>
      <p:sp>
        <p:nvSpPr>
          <p:cNvPr id="20" name="Shape 18"/>
          <p:cNvSpPr/>
          <p:nvPr/>
        </p:nvSpPr>
        <p:spPr>
          <a:xfrm>
            <a:off x="7909560" y="1828800"/>
            <a:ext cx="3749040" cy="2103120"/>
          </a:xfrm>
          <a:prstGeom prst="roundRect">
            <a:avLst>
              <a:gd name="adj" fmla="val 4348"/>
            </a:avLst>
          </a:prstGeom>
          <a:solidFill>
            <a:srgbClr val="0C3B2E"/>
          </a:solidFill>
          <a:ln/>
        </p:spPr>
        <p:txBody>
          <a:bodyPr/>
          <a:lstStyle/>
          <a:p>
            <a:endParaRPr lang="en-IN"/>
          </a:p>
        </p:txBody>
      </p:sp>
      <p:sp>
        <p:nvSpPr>
          <p:cNvPr id="21" name="Text 19"/>
          <p:cNvSpPr/>
          <p:nvPr/>
        </p:nvSpPr>
        <p:spPr>
          <a:xfrm>
            <a:off x="8092440" y="1965960"/>
            <a:ext cx="3383280" cy="548640"/>
          </a:xfrm>
          <a:prstGeom prst="rect">
            <a:avLst/>
          </a:prstGeom>
          <a:noFill/>
          <a:ln/>
        </p:spPr>
        <p:txBody>
          <a:bodyPr wrap="square" rtlCol="0" anchor="ctr"/>
          <a:lstStyle/>
          <a:p>
            <a:pPr marL="0" indent="0">
              <a:buNone/>
            </a:pPr>
            <a:r>
              <a:rPr lang="en-US" sz="1200" b="1" dirty="0">
                <a:solidFill>
                  <a:srgbClr val="C9A24B"/>
                </a:solidFill>
                <a:latin typeface="Calibri" pitchFamily="34" charset="0"/>
                <a:ea typeface="Calibri" pitchFamily="34" charset="-122"/>
                <a:cs typeface="Calibri" pitchFamily="34" charset="-120"/>
              </a:rPr>
              <a:t>CUSTOMER-RELATED</a:t>
            </a:r>
            <a:endParaRPr lang="en-US" sz="1200" dirty="0"/>
          </a:p>
          <a:p>
            <a:pPr marL="0" indent="0">
              <a:buNone/>
            </a:pPr>
            <a:r>
              <a:rPr lang="en-US" sz="1200" b="1" dirty="0">
                <a:solidFill>
                  <a:srgbClr val="C9A24B"/>
                </a:solidFill>
                <a:latin typeface="Calibri" pitchFamily="34" charset="0"/>
                <a:ea typeface="Calibri" pitchFamily="34" charset="-122"/>
                <a:cs typeface="Calibri" pitchFamily="34" charset="-120"/>
              </a:rPr>
              <a:t>INFORMATION</a:t>
            </a:r>
            <a:endParaRPr lang="en-US" sz="1200" dirty="0"/>
          </a:p>
        </p:txBody>
      </p:sp>
      <p:sp>
        <p:nvSpPr>
          <p:cNvPr id="22" name="Shape 20"/>
          <p:cNvSpPr/>
          <p:nvPr/>
        </p:nvSpPr>
        <p:spPr>
          <a:xfrm>
            <a:off x="8138160" y="2651760"/>
            <a:ext cx="91440" cy="91440"/>
          </a:xfrm>
          <a:prstGeom prst="ellipse">
            <a:avLst/>
          </a:prstGeom>
          <a:solidFill>
            <a:srgbClr val="FFFFFF"/>
          </a:solidFill>
          <a:ln/>
        </p:spPr>
        <p:txBody>
          <a:bodyPr/>
          <a:lstStyle/>
          <a:p>
            <a:endParaRPr lang="en-IN"/>
          </a:p>
        </p:txBody>
      </p:sp>
      <p:sp>
        <p:nvSpPr>
          <p:cNvPr id="23" name="Text 21"/>
          <p:cNvSpPr/>
          <p:nvPr/>
        </p:nvSpPr>
        <p:spPr>
          <a:xfrm>
            <a:off x="8321040" y="2542032"/>
            <a:ext cx="3108960" cy="3200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Customer age group</a:t>
            </a:r>
            <a:endParaRPr lang="en-US" sz="1150" dirty="0"/>
          </a:p>
        </p:txBody>
      </p:sp>
      <p:sp>
        <p:nvSpPr>
          <p:cNvPr id="24" name="Shape 22"/>
          <p:cNvSpPr/>
          <p:nvPr/>
        </p:nvSpPr>
        <p:spPr>
          <a:xfrm>
            <a:off x="8138160" y="3035808"/>
            <a:ext cx="91440" cy="91440"/>
          </a:xfrm>
          <a:prstGeom prst="ellipse">
            <a:avLst/>
          </a:prstGeom>
          <a:solidFill>
            <a:srgbClr val="FFFFFF"/>
          </a:solidFill>
          <a:ln/>
        </p:spPr>
        <p:txBody>
          <a:bodyPr/>
          <a:lstStyle/>
          <a:p>
            <a:endParaRPr lang="en-IN"/>
          </a:p>
        </p:txBody>
      </p:sp>
      <p:sp>
        <p:nvSpPr>
          <p:cNvPr id="25" name="Text 23"/>
          <p:cNvSpPr/>
          <p:nvPr/>
        </p:nvSpPr>
        <p:spPr>
          <a:xfrm>
            <a:off x="8321040" y="2926080"/>
            <a:ext cx="3108960" cy="3200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Customer gender</a:t>
            </a:r>
            <a:endParaRPr lang="en-US" sz="1150" dirty="0"/>
          </a:p>
        </p:txBody>
      </p:sp>
      <p:sp>
        <p:nvSpPr>
          <p:cNvPr id="26" name="Shape 24"/>
          <p:cNvSpPr/>
          <p:nvPr/>
        </p:nvSpPr>
        <p:spPr>
          <a:xfrm>
            <a:off x="8138160" y="3419856"/>
            <a:ext cx="91440" cy="91440"/>
          </a:xfrm>
          <a:prstGeom prst="ellipse">
            <a:avLst/>
          </a:prstGeom>
          <a:solidFill>
            <a:srgbClr val="FFFFFF"/>
          </a:solidFill>
          <a:ln/>
        </p:spPr>
        <p:txBody>
          <a:bodyPr/>
          <a:lstStyle/>
          <a:p>
            <a:endParaRPr lang="en-IN"/>
          </a:p>
        </p:txBody>
      </p:sp>
      <p:sp>
        <p:nvSpPr>
          <p:cNvPr id="27" name="Text 25"/>
          <p:cNvSpPr/>
          <p:nvPr/>
        </p:nvSpPr>
        <p:spPr>
          <a:xfrm>
            <a:off x="8321040" y="3310128"/>
            <a:ext cx="3108960" cy="3200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Rewards membership status</a:t>
            </a:r>
            <a:endParaRPr lang="en-US" sz="1150" dirty="0"/>
          </a:p>
        </p:txBody>
      </p:sp>
      <p:sp>
        <p:nvSpPr>
          <p:cNvPr id="28" name="Shape 26"/>
          <p:cNvSpPr/>
          <p:nvPr/>
        </p:nvSpPr>
        <p:spPr>
          <a:xfrm>
            <a:off x="7909560" y="4114800"/>
            <a:ext cx="3749040" cy="2057400"/>
          </a:xfrm>
          <a:prstGeom prst="roundRect">
            <a:avLst>
              <a:gd name="adj" fmla="val 4444"/>
            </a:avLst>
          </a:prstGeom>
          <a:solidFill>
            <a:srgbClr val="EAF3EF"/>
          </a:solidFill>
          <a:ln/>
        </p:spPr>
        <p:txBody>
          <a:bodyPr/>
          <a:lstStyle/>
          <a:p>
            <a:endParaRPr lang="en-IN"/>
          </a:p>
        </p:txBody>
      </p:sp>
      <p:sp>
        <p:nvSpPr>
          <p:cNvPr id="29" name="Text 27"/>
          <p:cNvSpPr/>
          <p:nvPr/>
        </p:nvSpPr>
        <p:spPr>
          <a:xfrm>
            <a:off x="8092440" y="4251960"/>
            <a:ext cx="3383280" cy="320040"/>
          </a:xfrm>
          <a:prstGeom prst="rect">
            <a:avLst/>
          </a:prstGeom>
          <a:noFill/>
          <a:ln/>
        </p:spPr>
        <p:txBody>
          <a:bodyPr wrap="square"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DERIVED DATE COLUMNS</a:t>
            </a:r>
            <a:endParaRPr lang="en-US" sz="1150" dirty="0"/>
          </a:p>
        </p:txBody>
      </p:sp>
      <p:sp>
        <p:nvSpPr>
          <p:cNvPr id="30" name="Text 28"/>
          <p:cNvSpPr/>
          <p:nvPr/>
        </p:nvSpPr>
        <p:spPr>
          <a:xfrm>
            <a:off x="8092440" y="4617720"/>
            <a:ext cx="3383280" cy="1371600"/>
          </a:xfrm>
          <a:prstGeom prst="rect">
            <a:avLst/>
          </a:prstGeom>
          <a:noFill/>
          <a:ln/>
        </p:spPr>
        <p:txBody>
          <a:bodyPr wrap="square"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Year • Month • Month Number • Quarter • Day of Week • Order Hour</a:t>
            </a:r>
            <a:endParaRPr lang="en-US" sz="1100" dirty="0"/>
          </a:p>
        </p:txBody>
      </p:sp>
      <p:sp>
        <p:nvSpPr>
          <p:cNvPr id="32" name="Text 30"/>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endParaRPr lang="en-US" sz="1300" dirty="0"/>
          </a:p>
        </p:txBody>
      </p:sp>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Data Preprocessing</a:t>
            </a:r>
            <a:endParaRPr lang="en-US" sz="3000" dirty="0"/>
          </a:p>
        </p:txBody>
      </p:sp>
      <p:sp>
        <p:nvSpPr>
          <p:cNvPr id="4" name="Shape 2"/>
          <p:cNvSpPr/>
          <p:nvPr/>
        </p:nvSpPr>
        <p:spPr>
          <a:xfrm>
            <a:off x="548640" y="1536192"/>
            <a:ext cx="457200" cy="457200"/>
          </a:xfrm>
          <a:prstGeom prst="ellipse">
            <a:avLst/>
          </a:prstGeom>
          <a:solidFill>
            <a:srgbClr val="00704A"/>
          </a:solidFill>
          <a:ln/>
        </p:spPr>
        <p:txBody>
          <a:bodyPr/>
          <a:lstStyle/>
          <a:p>
            <a:endParaRPr lang="en-IN"/>
          </a:p>
        </p:txBody>
      </p:sp>
      <p:sp>
        <p:nvSpPr>
          <p:cNvPr id="5" name="Text 3"/>
          <p:cNvSpPr/>
          <p:nvPr/>
        </p:nvSpPr>
        <p:spPr>
          <a:xfrm>
            <a:off x="548640" y="153619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88720" y="1650492"/>
            <a:ext cx="4206240" cy="292608"/>
          </a:xfrm>
          <a:prstGeom prst="rect">
            <a:avLst/>
          </a:prstGeom>
          <a:noFill/>
          <a:ln/>
        </p:spPr>
        <p:txBody>
          <a:bodyPr wrap="square" rtlCol="0" anchor="ctr"/>
          <a:lstStyle/>
          <a:p>
            <a:pPr marL="0" indent="0">
              <a:buNone/>
            </a:pPr>
            <a:r>
              <a:rPr lang="en-US" sz="1400" b="1" dirty="0">
                <a:solidFill>
                  <a:srgbClr val="0C3B2E"/>
                </a:solidFill>
                <a:latin typeface="Calibri" pitchFamily="34" charset="0"/>
                <a:ea typeface="Calibri" pitchFamily="34" charset="-122"/>
                <a:cs typeface="Calibri" pitchFamily="34" charset="-120"/>
              </a:rPr>
              <a:t>Checked data types</a:t>
            </a:r>
            <a:endParaRPr lang="en-US" sz="1400" dirty="0"/>
          </a:p>
        </p:txBody>
      </p:sp>
      <p:sp>
        <p:nvSpPr>
          <p:cNvPr id="8" name="Shape 6"/>
          <p:cNvSpPr/>
          <p:nvPr/>
        </p:nvSpPr>
        <p:spPr>
          <a:xfrm>
            <a:off x="548640" y="2203704"/>
            <a:ext cx="457200" cy="457200"/>
          </a:xfrm>
          <a:prstGeom prst="ellipse">
            <a:avLst/>
          </a:prstGeom>
          <a:solidFill>
            <a:srgbClr val="00704A"/>
          </a:solidFill>
          <a:ln/>
        </p:spPr>
        <p:txBody>
          <a:bodyPr/>
          <a:lstStyle/>
          <a:p>
            <a:endParaRPr lang="en-IN"/>
          </a:p>
        </p:txBody>
      </p:sp>
      <p:sp>
        <p:nvSpPr>
          <p:cNvPr id="9" name="Text 7"/>
          <p:cNvSpPr/>
          <p:nvPr/>
        </p:nvSpPr>
        <p:spPr>
          <a:xfrm>
            <a:off x="548640" y="220370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88720" y="2272284"/>
            <a:ext cx="4206240" cy="292608"/>
          </a:xfrm>
          <a:prstGeom prst="rect">
            <a:avLst/>
          </a:prstGeom>
          <a:noFill/>
          <a:ln/>
        </p:spPr>
        <p:txBody>
          <a:bodyPr wrap="square" rtlCol="0" anchor="ctr"/>
          <a:lstStyle/>
          <a:p>
            <a:pPr marL="0" indent="0">
              <a:buNone/>
            </a:pPr>
            <a:r>
              <a:rPr lang="en-US" sz="1400" b="1" dirty="0">
                <a:solidFill>
                  <a:srgbClr val="0C3B2E"/>
                </a:solidFill>
                <a:latin typeface="Calibri" pitchFamily="34" charset="0"/>
                <a:ea typeface="Calibri" pitchFamily="34" charset="-122"/>
                <a:cs typeface="Calibri" pitchFamily="34" charset="-120"/>
              </a:rPr>
              <a:t>Checked missing values</a:t>
            </a:r>
            <a:endParaRPr lang="en-US" sz="1400" dirty="0"/>
          </a:p>
        </p:txBody>
      </p:sp>
      <p:sp>
        <p:nvSpPr>
          <p:cNvPr id="12" name="Shape 10"/>
          <p:cNvSpPr/>
          <p:nvPr/>
        </p:nvSpPr>
        <p:spPr>
          <a:xfrm>
            <a:off x="548640" y="2871216"/>
            <a:ext cx="457200" cy="457200"/>
          </a:xfrm>
          <a:prstGeom prst="ellipse">
            <a:avLst/>
          </a:prstGeom>
          <a:solidFill>
            <a:srgbClr val="00704A"/>
          </a:solidFill>
          <a:ln/>
        </p:spPr>
        <p:txBody>
          <a:bodyPr/>
          <a:lstStyle/>
          <a:p>
            <a:endParaRPr lang="en-IN"/>
          </a:p>
        </p:txBody>
      </p:sp>
      <p:sp>
        <p:nvSpPr>
          <p:cNvPr id="13" name="Text 11"/>
          <p:cNvSpPr/>
          <p:nvPr/>
        </p:nvSpPr>
        <p:spPr>
          <a:xfrm>
            <a:off x="548640" y="287121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88720" y="2939796"/>
            <a:ext cx="4206240" cy="292608"/>
          </a:xfrm>
          <a:prstGeom prst="rect">
            <a:avLst/>
          </a:prstGeom>
          <a:noFill/>
          <a:ln/>
        </p:spPr>
        <p:txBody>
          <a:bodyPr wrap="square" rtlCol="0" anchor="ctr"/>
          <a:lstStyle/>
          <a:p>
            <a:pPr marL="0" indent="0">
              <a:buNone/>
            </a:pPr>
            <a:r>
              <a:rPr lang="en-US" sz="1400" b="1" dirty="0">
                <a:solidFill>
                  <a:srgbClr val="0C3B2E"/>
                </a:solidFill>
                <a:latin typeface="Calibri" pitchFamily="34" charset="0"/>
                <a:ea typeface="Calibri" pitchFamily="34" charset="-122"/>
                <a:cs typeface="Calibri" pitchFamily="34" charset="-120"/>
              </a:rPr>
              <a:t>Removed duplicate records</a:t>
            </a:r>
            <a:endParaRPr lang="en-US" sz="1400" dirty="0"/>
          </a:p>
        </p:txBody>
      </p:sp>
      <p:sp>
        <p:nvSpPr>
          <p:cNvPr id="16" name="Shape 14"/>
          <p:cNvSpPr/>
          <p:nvPr/>
        </p:nvSpPr>
        <p:spPr>
          <a:xfrm>
            <a:off x="548640" y="3538728"/>
            <a:ext cx="457200" cy="457200"/>
          </a:xfrm>
          <a:prstGeom prst="ellipse">
            <a:avLst/>
          </a:prstGeom>
          <a:solidFill>
            <a:srgbClr val="00704A"/>
          </a:solidFill>
          <a:ln/>
        </p:spPr>
        <p:txBody>
          <a:bodyPr/>
          <a:lstStyle/>
          <a:p>
            <a:endParaRPr lang="en-IN"/>
          </a:p>
        </p:txBody>
      </p:sp>
      <p:sp>
        <p:nvSpPr>
          <p:cNvPr id="17" name="Text 15"/>
          <p:cNvSpPr/>
          <p:nvPr/>
        </p:nvSpPr>
        <p:spPr>
          <a:xfrm>
            <a:off x="548640" y="353872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Shape 18"/>
          <p:cNvSpPr/>
          <p:nvPr/>
        </p:nvSpPr>
        <p:spPr>
          <a:xfrm>
            <a:off x="548640" y="4206240"/>
            <a:ext cx="457200" cy="457200"/>
          </a:xfrm>
          <a:prstGeom prst="ellipse">
            <a:avLst/>
          </a:prstGeom>
          <a:solidFill>
            <a:srgbClr val="00704A"/>
          </a:solidFill>
          <a:ln/>
        </p:spPr>
        <p:txBody>
          <a:bodyPr/>
          <a:lstStyle/>
          <a:p>
            <a:endParaRPr lang="en-IN"/>
          </a:p>
        </p:txBody>
      </p:sp>
      <p:sp>
        <p:nvSpPr>
          <p:cNvPr id="21" name="Text 19"/>
          <p:cNvSpPr/>
          <p:nvPr/>
        </p:nvSpPr>
        <p:spPr>
          <a:xfrm>
            <a:off x="548640" y="420624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88720" y="3681691"/>
            <a:ext cx="4206240" cy="292608"/>
          </a:xfrm>
          <a:prstGeom prst="rect">
            <a:avLst/>
          </a:prstGeom>
          <a:noFill/>
          <a:ln/>
        </p:spPr>
        <p:txBody>
          <a:bodyPr wrap="square" rtlCol="0" anchor="ctr"/>
          <a:lstStyle/>
          <a:p>
            <a:pPr marL="0" indent="0">
              <a:buNone/>
            </a:pPr>
            <a:r>
              <a:rPr lang="en-US" sz="1400" b="1" dirty="0">
                <a:solidFill>
                  <a:srgbClr val="0C3B2E"/>
                </a:solidFill>
                <a:latin typeface="Calibri" pitchFamily="34" charset="0"/>
                <a:ea typeface="Calibri" pitchFamily="34" charset="-122"/>
                <a:cs typeface="Calibri" pitchFamily="34" charset="-120"/>
              </a:rPr>
              <a:t>Created date-related columns</a:t>
            </a:r>
            <a:endParaRPr lang="en-US" sz="1400" dirty="0"/>
          </a:p>
        </p:txBody>
      </p:sp>
      <p:sp>
        <p:nvSpPr>
          <p:cNvPr id="24" name="Shape 22"/>
          <p:cNvSpPr/>
          <p:nvPr/>
        </p:nvSpPr>
        <p:spPr>
          <a:xfrm>
            <a:off x="548640" y="4873752"/>
            <a:ext cx="457200" cy="457200"/>
          </a:xfrm>
          <a:prstGeom prst="ellipse">
            <a:avLst/>
          </a:prstGeom>
          <a:solidFill>
            <a:srgbClr val="00704A"/>
          </a:solidFill>
          <a:ln/>
        </p:spPr>
        <p:txBody>
          <a:bodyPr/>
          <a:lstStyle/>
          <a:p>
            <a:endParaRPr lang="en-IN"/>
          </a:p>
        </p:txBody>
      </p:sp>
      <p:sp>
        <p:nvSpPr>
          <p:cNvPr id="25" name="Text 23"/>
          <p:cNvSpPr/>
          <p:nvPr/>
        </p:nvSpPr>
        <p:spPr>
          <a:xfrm>
            <a:off x="548640" y="487375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1188720" y="4360017"/>
            <a:ext cx="4206240" cy="292608"/>
          </a:xfrm>
          <a:prstGeom prst="rect">
            <a:avLst/>
          </a:prstGeom>
          <a:noFill/>
          <a:ln/>
        </p:spPr>
        <p:txBody>
          <a:bodyPr wrap="square" rtlCol="0" anchor="ctr"/>
          <a:lstStyle/>
          <a:p>
            <a:pPr marL="0" indent="0">
              <a:buNone/>
            </a:pPr>
            <a:r>
              <a:rPr lang="en-US" sz="1400" b="1" dirty="0">
                <a:solidFill>
                  <a:srgbClr val="0C3B2E"/>
                </a:solidFill>
                <a:latin typeface="Calibri" pitchFamily="34" charset="0"/>
                <a:ea typeface="Calibri" pitchFamily="34" charset="-122"/>
                <a:cs typeface="Calibri" pitchFamily="34" charset="-120"/>
              </a:rPr>
              <a:t>Created Order Hour</a:t>
            </a:r>
            <a:endParaRPr lang="en-US" sz="1400" dirty="0"/>
          </a:p>
        </p:txBody>
      </p:sp>
      <p:sp>
        <p:nvSpPr>
          <p:cNvPr id="29" name="Text 27"/>
          <p:cNvSpPr/>
          <p:nvPr/>
        </p:nvSpPr>
        <p:spPr>
          <a:xfrm>
            <a:off x="548640" y="554126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0" name="Text 28"/>
          <p:cNvSpPr/>
          <p:nvPr/>
        </p:nvSpPr>
        <p:spPr>
          <a:xfrm>
            <a:off x="1257800" y="5038344"/>
            <a:ext cx="4206240" cy="292608"/>
          </a:xfrm>
          <a:prstGeom prst="rect">
            <a:avLst/>
          </a:prstGeom>
          <a:noFill/>
          <a:ln/>
        </p:spPr>
        <p:txBody>
          <a:bodyPr wrap="square" rtlCol="0" anchor="ctr"/>
          <a:lstStyle/>
          <a:p>
            <a:pPr marL="0" indent="0">
              <a:buNone/>
            </a:pPr>
            <a:r>
              <a:rPr lang="en-US" sz="1400" b="1" dirty="0">
                <a:solidFill>
                  <a:srgbClr val="0C3B2E"/>
                </a:solidFill>
                <a:latin typeface="Calibri" pitchFamily="34" charset="0"/>
                <a:ea typeface="Calibri" pitchFamily="34" charset="-122"/>
                <a:cs typeface="Calibri" pitchFamily="34" charset="-120"/>
              </a:rPr>
              <a:t>Prepared data for modelling</a:t>
            </a:r>
            <a:endParaRPr lang="en-US" sz="1400" dirty="0"/>
          </a:p>
        </p:txBody>
      </p:sp>
      <p:sp>
        <p:nvSpPr>
          <p:cNvPr id="33" name="Text 3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5</a:t>
            </a:r>
            <a:endParaRPr lang="en-US" sz="900" dirty="0"/>
          </a:p>
        </p:txBody>
      </p:sp>
      <p:pic>
        <p:nvPicPr>
          <p:cNvPr id="34" name="Picture 33">
            <a:extLst>
              <a:ext uri="{FF2B5EF4-FFF2-40B4-BE49-F238E27FC236}">
                <a16:creationId xmlns:a16="http://schemas.microsoft.com/office/drawing/2014/main" id="{D48D3D30-5599-B93D-15D5-68FE371F0D5B}"/>
              </a:ext>
            </a:extLst>
          </p:cNvPr>
          <p:cNvPicPr>
            <a:picLocks noChangeAspect="1"/>
          </p:cNvPicPr>
          <p:nvPr/>
        </p:nvPicPr>
        <p:blipFill>
          <a:blip r:embed="rId3"/>
          <a:srcRect b="51142"/>
          <a:stretch>
            <a:fillRect/>
          </a:stretch>
        </p:blipFill>
        <p:spPr>
          <a:xfrm>
            <a:off x="4605986" y="865749"/>
            <a:ext cx="2191056" cy="1795155"/>
          </a:xfrm>
          <a:prstGeom prst="rect">
            <a:avLst/>
          </a:prstGeom>
        </p:spPr>
      </p:pic>
      <p:pic>
        <p:nvPicPr>
          <p:cNvPr id="36" name="Picture 35">
            <a:extLst>
              <a:ext uri="{FF2B5EF4-FFF2-40B4-BE49-F238E27FC236}">
                <a16:creationId xmlns:a16="http://schemas.microsoft.com/office/drawing/2014/main" id="{ABE275CE-60AD-29DA-A475-5F5486C74A5F}"/>
              </a:ext>
            </a:extLst>
          </p:cNvPr>
          <p:cNvPicPr>
            <a:picLocks noChangeAspect="1"/>
          </p:cNvPicPr>
          <p:nvPr/>
        </p:nvPicPr>
        <p:blipFill>
          <a:blip r:embed="rId4"/>
          <a:srcRect b="29529"/>
          <a:stretch>
            <a:fillRect/>
          </a:stretch>
        </p:blipFill>
        <p:spPr>
          <a:xfrm>
            <a:off x="7769465" y="883574"/>
            <a:ext cx="2162477" cy="1777329"/>
          </a:xfrm>
          <a:prstGeom prst="rect">
            <a:avLst/>
          </a:prstGeom>
        </p:spPr>
      </p:pic>
      <p:pic>
        <p:nvPicPr>
          <p:cNvPr id="40" name="Picture 39">
            <a:extLst>
              <a:ext uri="{FF2B5EF4-FFF2-40B4-BE49-F238E27FC236}">
                <a16:creationId xmlns:a16="http://schemas.microsoft.com/office/drawing/2014/main" id="{097E3FC6-CC52-B385-5FA7-1A3AFB1B23B0}"/>
              </a:ext>
            </a:extLst>
          </p:cNvPr>
          <p:cNvPicPr>
            <a:picLocks noChangeAspect="1"/>
          </p:cNvPicPr>
          <p:nvPr/>
        </p:nvPicPr>
        <p:blipFill>
          <a:blip r:embed="rId5"/>
          <a:srcRect b="26000"/>
          <a:stretch>
            <a:fillRect/>
          </a:stretch>
        </p:blipFill>
        <p:spPr>
          <a:xfrm>
            <a:off x="4605986" y="3301715"/>
            <a:ext cx="2305372" cy="1572038"/>
          </a:xfrm>
          <a:prstGeom prst="rect">
            <a:avLst/>
          </a:prstGeom>
        </p:spPr>
      </p:pic>
      <p:pic>
        <p:nvPicPr>
          <p:cNvPr id="42" name="Picture 41">
            <a:extLst>
              <a:ext uri="{FF2B5EF4-FFF2-40B4-BE49-F238E27FC236}">
                <a16:creationId xmlns:a16="http://schemas.microsoft.com/office/drawing/2014/main" id="{996FD98C-8DD8-2C8F-B37E-8C2162352D84}"/>
              </a:ext>
            </a:extLst>
          </p:cNvPr>
          <p:cNvPicPr>
            <a:picLocks noChangeAspect="1"/>
          </p:cNvPicPr>
          <p:nvPr/>
        </p:nvPicPr>
        <p:blipFill>
          <a:blip r:embed="rId6"/>
          <a:stretch>
            <a:fillRect/>
          </a:stretch>
        </p:blipFill>
        <p:spPr>
          <a:xfrm>
            <a:off x="7750040" y="2858677"/>
            <a:ext cx="2181902" cy="38105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endParaRPr lang="en-US" sz="1300" dirty="0"/>
          </a:p>
        </p:txBody>
      </p:sp>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Data Modelling — Star Schema</a:t>
            </a:r>
            <a:endParaRPr lang="en-US" sz="3000" dirty="0"/>
          </a:p>
        </p:txBody>
      </p:sp>
      <p:sp>
        <p:nvSpPr>
          <p:cNvPr id="9" name="Text 7"/>
          <p:cNvSpPr/>
          <p:nvPr/>
        </p:nvSpPr>
        <p:spPr>
          <a:xfrm>
            <a:off x="5646420" y="2563091"/>
            <a:ext cx="2697480" cy="3117273"/>
          </a:xfrm>
          <a:prstGeom prst="rect">
            <a:avLst/>
          </a:prstGeom>
          <a:noFill/>
          <a:ln/>
        </p:spPr>
        <p:txBody>
          <a:bodyPr wrap="square" rtlCol="0" anchor="ctr"/>
          <a:lstStyle/>
          <a:p>
            <a:pPr marL="0" indent="0" algn="ctr">
              <a:buNone/>
            </a:pPr>
            <a:r>
              <a:rPr lang="en-US" sz="1300" b="1" dirty="0" err="1">
                <a:solidFill>
                  <a:srgbClr val="FFFFFF"/>
                </a:solidFill>
                <a:latin typeface="Calibri" pitchFamily="34" charset="0"/>
                <a:ea typeface="Calibri" pitchFamily="34" charset="-122"/>
                <a:cs typeface="Calibri" pitchFamily="34" charset="-120"/>
              </a:rPr>
              <a:t>Fact_Order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a:t>
            </a:r>
            <a:r>
              <a:rPr lang="en-US" sz="1300" b="1" dirty="0" err="1">
                <a:solidFill>
                  <a:srgbClr val="FFFFFF"/>
                </a:solidFill>
                <a:latin typeface="Calibri" pitchFamily="34" charset="0"/>
                <a:ea typeface="Calibri" pitchFamily="34" charset="-122"/>
                <a:cs typeface="Calibri" pitchFamily="34" charset="-120"/>
              </a:rPr>
              <a:t>ata</a:t>
            </a: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2514600" y="1563624"/>
            <a:ext cx="2103120" cy="44805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Dim_Customer</a:t>
            </a:r>
            <a:endParaRPr lang="en-US" sz="1600" dirty="0"/>
          </a:p>
        </p:txBody>
      </p:sp>
      <p:sp>
        <p:nvSpPr>
          <p:cNvPr id="14" name="Text 12"/>
          <p:cNvSpPr/>
          <p:nvPr/>
        </p:nvSpPr>
        <p:spPr>
          <a:xfrm>
            <a:off x="9966960" y="1563624"/>
            <a:ext cx="2103120" cy="35661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Dim_Store</a:t>
            </a:r>
            <a:endParaRPr lang="en-US" sz="1600" dirty="0"/>
          </a:p>
        </p:txBody>
      </p:sp>
      <p:sp>
        <p:nvSpPr>
          <p:cNvPr id="15" name="Text 13"/>
          <p:cNvSpPr/>
          <p:nvPr/>
        </p:nvSpPr>
        <p:spPr>
          <a:xfrm>
            <a:off x="9966960" y="2103120"/>
            <a:ext cx="2103120" cy="1426464"/>
          </a:xfrm>
          <a:prstGeom prst="rect">
            <a:avLst/>
          </a:prstGeom>
          <a:noFill/>
          <a:ln/>
        </p:spPr>
        <p:txBody>
          <a:bodyPr wrap="square" rtlCol="0" anchor="ctr"/>
          <a:lstStyle/>
          <a:p>
            <a:pPr marL="0" indent="0" algn="ctr">
              <a:buNone/>
            </a:pPr>
            <a:r>
              <a:rPr lang="en-US" sz="1600" dirty="0">
                <a:solidFill>
                  <a:srgbClr val="EAF3EF"/>
                </a:solidFill>
                <a:latin typeface="Calibri" pitchFamily="34" charset="0"/>
                <a:ea typeface="Calibri" pitchFamily="34" charset="-122"/>
                <a:cs typeface="Calibri" pitchFamily="34" charset="-120"/>
              </a:rPr>
              <a:t>store_id,</a:t>
            </a:r>
            <a:endParaRPr lang="en-US" sz="1600" dirty="0"/>
          </a:p>
          <a:p>
            <a:pPr marL="0" indent="0" algn="ctr">
              <a:buNone/>
            </a:pPr>
            <a:r>
              <a:rPr lang="en-US" sz="1600" dirty="0">
                <a:solidFill>
                  <a:srgbClr val="EAF3EF"/>
                </a:solidFill>
                <a:latin typeface="Calibri" pitchFamily="34" charset="0"/>
                <a:ea typeface="Calibri" pitchFamily="34" charset="-122"/>
                <a:cs typeface="Calibri" pitchFamily="34" charset="-120"/>
              </a:rPr>
              <a:t>store location type,</a:t>
            </a:r>
          </a:p>
          <a:p>
            <a:pPr marL="0" indent="0" algn="ctr">
              <a:buNone/>
            </a:pPr>
            <a:r>
              <a:rPr lang="en-US" sz="1600" dirty="0">
                <a:solidFill>
                  <a:srgbClr val="EAF3EF"/>
                </a:solidFill>
                <a:latin typeface="Calibri" pitchFamily="34" charset="0"/>
                <a:ea typeface="Calibri" pitchFamily="34" charset="-122"/>
                <a:cs typeface="Calibri" pitchFamily="34" charset="-120"/>
              </a:rPr>
              <a:t>Region.</a:t>
            </a:r>
            <a:endParaRPr lang="en-US" sz="1600" dirty="0"/>
          </a:p>
        </p:txBody>
      </p:sp>
      <p:sp>
        <p:nvSpPr>
          <p:cNvPr id="17" name="Text 15"/>
          <p:cNvSpPr/>
          <p:nvPr/>
        </p:nvSpPr>
        <p:spPr>
          <a:xfrm>
            <a:off x="2514600" y="3895344"/>
            <a:ext cx="2103120" cy="612648"/>
          </a:xfrm>
          <a:prstGeom prst="rect">
            <a:avLst/>
          </a:prstGeom>
          <a:noFill/>
          <a:ln/>
        </p:spPr>
        <p:txBody>
          <a:bodyPr wrap="square" rtlCol="0" anchor="ctr"/>
          <a:lstStyle/>
          <a:p>
            <a:pPr marL="0" indent="0" algn="ctr">
              <a:buNone/>
            </a:pPr>
            <a:r>
              <a:rPr lang="en-US" sz="1600" b="1" dirty="0" err="1">
                <a:solidFill>
                  <a:srgbClr val="FFFFFF"/>
                </a:solidFill>
                <a:latin typeface="Calibri" pitchFamily="34" charset="0"/>
                <a:ea typeface="Calibri" pitchFamily="34" charset="-122"/>
                <a:cs typeface="Calibri" pitchFamily="34" charset="-120"/>
              </a:rPr>
              <a:t>Dim_Produc</a:t>
            </a:r>
            <a:endParaRPr lang="en-US" sz="1600" dirty="0"/>
          </a:p>
        </p:txBody>
      </p:sp>
      <p:sp>
        <p:nvSpPr>
          <p:cNvPr id="20" name="Text 18"/>
          <p:cNvSpPr/>
          <p:nvPr/>
        </p:nvSpPr>
        <p:spPr>
          <a:xfrm>
            <a:off x="9966960" y="3822192"/>
            <a:ext cx="2103120" cy="74980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Dim_Date</a:t>
            </a:r>
            <a:endParaRPr lang="en-US" sz="1400" dirty="0"/>
          </a:p>
        </p:txBody>
      </p:sp>
      <p:sp>
        <p:nvSpPr>
          <p:cNvPr id="21" name="Text 19"/>
          <p:cNvSpPr/>
          <p:nvPr/>
        </p:nvSpPr>
        <p:spPr>
          <a:xfrm>
            <a:off x="9966960" y="4800600"/>
            <a:ext cx="2103120" cy="1143000"/>
          </a:xfrm>
          <a:prstGeom prst="rect">
            <a:avLst/>
          </a:prstGeom>
          <a:noFill/>
          <a:ln/>
        </p:spPr>
        <p:txBody>
          <a:bodyPr wrap="square" rtlCol="0" anchor="ctr"/>
          <a:lstStyle/>
          <a:p>
            <a:pPr marL="0" indent="0" algn="ctr">
              <a:buNone/>
            </a:pPr>
            <a:r>
              <a:rPr lang="en-US" sz="1600" dirty="0">
                <a:solidFill>
                  <a:srgbClr val="EAF3EF"/>
                </a:solidFill>
                <a:latin typeface="Calibri" pitchFamily="34" charset="0"/>
                <a:ea typeface="Calibri" pitchFamily="34" charset="-122"/>
                <a:cs typeface="Calibri" pitchFamily="34" charset="-120"/>
              </a:rPr>
              <a:t>date, year, month,</a:t>
            </a:r>
            <a:endParaRPr lang="en-US" sz="1600" dirty="0"/>
          </a:p>
          <a:p>
            <a:pPr marL="0" indent="0" algn="ctr">
              <a:buNone/>
            </a:pPr>
            <a:r>
              <a:rPr lang="en-US" sz="1600" dirty="0">
                <a:solidFill>
                  <a:srgbClr val="EAF3EF"/>
                </a:solidFill>
                <a:latin typeface="Calibri" pitchFamily="34" charset="0"/>
                <a:ea typeface="Calibri" pitchFamily="34" charset="-122"/>
                <a:cs typeface="Calibri" pitchFamily="34" charset="-120"/>
              </a:rPr>
              <a:t>quarter, day name</a:t>
            </a:r>
            <a:endParaRPr lang="en-US" sz="1600" dirty="0"/>
          </a:p>
        </p:txBody>
      </p:sp>
      <p:sp>
        <p:nvSpPr>
          <p:cNvPr id="24" name="Text 22"/>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6</a:t>
            </a:r>
            <a:endParaRPr lang="en-US" sz="900" dirty="0"/>
          </a:p>
        </p:txBody>
      </p:sp>
      <p:pic>
        <p:nvPicPr>
          <p:cNvPr id="26" name="Picture 25">
            <a:extLst>
              <a:ext uri="{FF2B5EF4-FFF2-40B4-BE49-F238E27FC236}">
                <a16:creationId xmlns:a16="http://schemas.microsoft.com/office/drawing/2014/main" id="{D6107B50-904E-FCA1-7F6D-864940D90E60}"/>
              </a:ext>
            </a:extLst>
          </p:cNvPr>
          <p:cNvPicPr>
            <a:picLocks noChangeAspect="1"/>
          </p:cNvPicPr>
          <p:nvPr/>
        </p:nvPicPr>
        <p:blipFill>
          <a:blip r:embed="rId3"/>
          <a:stretch>
            <a:fillRect/>
          </a:stretch>
        </p:blipFill>
        <p:spPr>
          <a:xfrm>
            <a:off x="359067" y="1377454"/>
            <a:ext cx="10065093" cy="48894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Relationships &amp; Cardinality</a:t>
            </a:r>
            <a:endParaRPr lang="en-US" sz="3000" dirty="0"/>
          </a:p>
        </p:txBody>
      </p:sp>
      <p:sp>
        <p:nvSpPr>
          <p:cNvPr id="4" name="Shape 2"/>
          <p:cNvSpPr/>
          <p:nvPr/>
        </p:nvSpPr>
        <p:spPr>
          <a:xfrm>
            <a:off x="548640" y="1554480"/>
            <a:ext cx="3291840" cy="1005840"/>
          </a:xfrm>
          <a:prstGeom prst="roundRect">
            <a:avLst>
              <a:gd name="adj" fmla="val 9091"/>
            </a:avLst>
          </a:prstGeom>
          <a:solidFill>
            <a:srgbClr val="0C3B2E"/>
          </a:solidFill>
          <a:ln/>
        </p:spPr>
        <p:txBody>
          <a:bodyPr/>
          <a:lstStyle/>
          <a:p>
            <a:endParaRPr lang="en-IN" dirty="0"/>
          </a:p>
        </p:txBody>
      </p:sp>
      <p:sp>
        <p:nvSpPr>
          <p:cNvPr id="5" name="Text 3"/>
          <p:cNvSpPr/>
          <p:nvPr/>
        </p:nvSpPr>
        <p:spPr>
          <a:xfrm>
            <a:off x="548640" y="1554480"/>
            <a:ext cx="3291840" cy="10058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Dim_Customer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(One customer)</a:t>
            </a:r>
            <a:endParaRPr lang="en-US" sz="1300" dirty="0"/>
          </a:p>
        </p:txBody>
      </p:sp>
      <p:sp>
        <p:nvSpPr>
          <p:cNvPr id="6" name="Shape 4"/>
          <p:cNvSpPr/>
          <p:nvPr/>
        </p:nvSpPr>
        <p:spPr>
          <a:xfrm>
            <a:off x="2148840" y="2560320"/>
            <a:ext cx="9144" cy="502920"/>
          </a:xfrm>
          <a:prstGeom prst="line">
            <a:avLst/>
          </a:prstGeom>
          <a:noFill/>
          <a:ln w="25400">
            <a:solidFill>
              <a:srgbClr val="5B6B66"/>
            </a:solidFill>
            <a:prstDash val="solid"/>
            <a:tailEnd type="triangle"/>
          </a:ln>
        </p:spPr>
        <p:txBody>
          <a:bodyPr/>
          <a:lstStyle/>
          <a:p>
            <a:endParaRPr lang="en-IN"/>
          </a:p>
        </p:txBody>
      </p:sp>
      <p:sp>
        <p:nvSpPr>
          <p:cNvPr id="7" name="Shape 5"/>
          <p:cNvSpPr/>
          <p:nvPr/>
        </p:nvSpPr>
        <p:spPr>
          <a:xfrm>
            <a:off x="548640" y="3566160"/>
            <a:ext cx="3291840" cy="1005840"/>
          </a:xfrm>
          <a:prstGeom prst="roundRect">
            <a:avLst>
              <a:gd name="adj" fmla="val 9091"/>
            </a:avLst>
          </a:prstGeom>
          <a:solidFill>
            <a:srgbClr val="00704A"/>
          </a:solidFill>
          <a:ln/>
        </p:spPr>
        <p:txBody>
          <a:bodyPr/>
          <a:lstStyle/>
          <a:p>
            <a:endParaRPr lang="en-IN"/>
          </a:p>
        </p:txBody>
      </p:sp>
      <p:sp>
        <p:nvSpPr>
          <p:cNvPr id="8" name="Text 6"/>
          <p:cNvSpPr/>
          <p:nvPr/>
        </p:nvSpPr>
        <p:spPr>
          <a:xfrm>
            <a:off x="548640" y="3108960"/>
            <a:ext cx="3291840" cy="10058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Fact_Order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(Many orders)</a:t>
            </a:r>
            <a:endParaRPr lang="en-US" sz="1300" dirty="0"/>
          </a:p>
        </p:txBody>
      </p:sp>
      <p:sp>
        <p:nvSpPr>
          <p:cNvPr id="9" name="Shape 7"/>
          <p:cNvSpPr/>
          <p:nvPr/>
        </p:nvSpPr>
        <p:spPr>
          <a:xfrm>
            <a:off x="777240" y="2982351"/>
            <a:ext cx="2834640" cy="365760"/>
          </a:xfrm>
          <a:prstGeom prst="roundRect">
            <a:avLst>
              <a:gd name="adj" fmla="val 75000"/>
            </a:avLst>
          </a:prstGeom>
          <a:solidFill>
            <a:srgbClr val="C9A24B"/>
          </a:solidFill>
          <a:ln/>
        </p:spPr>
        <p:txBody>
          <a:bodyPr/>
          <a:lstStyle/>
          <a:p>
            <a:endParaRPr lang="en-IN"/>
          </a:p>
        </p:txBody>
      </p:sp>
      <p:sp>
        <p:nvSpPr>
          <p:cNvPr id="10" name="Text 8"/>
          <p:cNvSpPr/>
          <p:nvPr/>
        </p:nvSpPr>
        <p:spPr>
          <a:xfrm>
            <a:off x="777240" y="3017519"/>
            <a:ext cx="2834640" cy="300697"/>
          </a:xfrm>
          <a:prstGeom prst="rect">
            <a:avLst/>
          </a:prstGeom>
          <a:noFill/>
          <a:ln/>
        </p:spPr>
        <p:txBody>
          <a:bodyPr wrap="square" rtlCol="0" anchor="ctr"/>
          <a:lstStyle/>
          <a:p>
            <a:pPr marL="0" indent="0" algn="ctr">
              <a:buNone/>
            </a:pPr>
            <a:r>
              <a:rPr lang="en-US" sz="1100" b="1" dirty="0">
                <a:solidFill>
                  <a:srgbClr val="0C3B2E"/>
                </a:solidFill>
                <a:latin typeface="Calibri" pitchFamily="34" charset="0"/>
                <a:ea typeface="Calibri" pitchFamily="34" charset="-122"/>
                <a:cs typeface="Calibri" pitchFamily="34" charset="-120"/>
              </a:rPr>
              <a:t>1 : Many</a:t>
            </a:r>
            <a:endParaRPr lang="en-US" sz="1100" dirty="0"/>
          </a:p>
        </p:txBody>
      </p:sp>
      <p:sp>
        <p:nvSpPr>
          <p:cNvPr id="11" name="Text 9"/>
          <p:cNvSpPr/>
          <p:nvPr/>
        </p:nvSpPr>
        <p:spPr>
          <a:xfrm>
            <a:off x="4206240" y="1600200"/>
            <a:ext cx="3657600" cy="2468880"/>
          </a:xfrm>
          <a:prstGeom prst="rect">
            <a:avLst/>
          </a:prstGeom>
          <a:noFill/>
          <a:ln/>
        </p:spPr>
        <p:txBody>
          <a:bodyPr wrap="square" rtlCol="0" anchor="t"/>
          <a:lstStyle/>
          <a:p>
            <a:pPr marL="0" indent="0">
              <a:lnSpc>
                <a:spcPct val="130000"/>
              </a:lnSpc>
              <a:buNone/>
            </a:pPr>
            <a:r>
              <a:rPr lang="en-US" i="1" dirty="0">
                <a:solidFill>
                  <a:srgbClr val="1A1A1A"/>
                </a:solidFill>
                <a:latin typeface="Calibri" pitchFamily="34" charset="0"/>
                <a:ea typeface="Calibri" pitchFamily="34" charset="-122"/>
                <a:cs typeface="Calibri" pitchFamily="34" charset="-120"/>
              </a:rPr>
              <a:t>“One customer can place many orders. Therefore, the relationship between the customer dimension and fact table is one-to-many.”</a:t>
            </a:r>
            <a:r>
              <a:rPr lang="en-US" sz="1250" i="1" dirty="0">
                <a:solidFill>
                  <a:srgbClr val="1A1A1A"/>
                </a:solidFill>
                <a:latin typeface="Calibri" pitchFamily="34" charset="0"/>
                <a:ea typeface="Calibri" pitchFamily="34" charset="-122"/>
                <a:cs typeface="Calibri" pitchFamily="34" charset="-120"/>
              </a:rPr>
              <a:t>
</a:t>
            </a:r>
            <a:endParaRPr lang="en-US" sz="1250" dirty="0"/>
          </a:p>
        </p:txBody>
      </p:sp>
      <p:sp>
        <p:nvSpPr>
          <p:cNvPr id="12" name="Shape 10"/>
          <p:cNvSpPr/>
          <p:nvPr/>
        </p:nvSpPr>
        <p:spPr>
          <a:xfrm>
            <a:off x="8138160" y="1554480"/>
            <a:ext cx="3520440" cy="4480560"/>
          </a:xfrm>
          <a:prstGeom prst="roundRect">
            <a:avLst>
              <a:gd name="adj" fmla="val 3117"/>
            </a:avLst>
          </a:prstGeom>
          <a:solidFill>
            <a:srgbClr val="EAF3EF"/>
          </a:solidFill>
          <a:ln/>
        </p:spPr>
        <p:txBody>
          <a:bodyPr/>
          <a:lstStyle/>
          <a:p>
            <a:endParaRPr lang="en-IN"/>
          </a:p>
        </p:txBody>
      </p:sp>
      <p:sp>
        <p:nvSpPr>
          <p:cNvPr id="13" name="Text 11"/>
          <p:cNvSpPr/>
          <p:nvPr/>
        </p:nvSpPr>
        <p:spPr>
          <a:xfrm>
            <a:off x="8366760" y="1783080"/>
            <a:ext cx="3108960" cy="320040"/>
          </a:xfrm>
          <a:prstGeom prst="rect">
            <a:avLst/>
          </a:prstGeom>
          <a:noFill/>
          <a:ln/>
        </p:spPr>
        <p:txBody>
          <a:bodyPr wrap="square" rtlCol="0" anchor="ctr"/>
          <a:lstStyle/>
          <a:p>
            <a:pPr marL="0" indent="0">
              <a:buNone/>
            </a:pPr>
            <a:r>
              <a:rPr lang="en-US" sz="1200" b="1" kern="0" spc="120" dirty="0">
                <a:solidFill>
                  <a:srgbClr val="00704A"/>
                </a:solidFill>
                <a:latin typeface="Calibri" pitchFamily="34" charset="0"/>
                <a:ea typeface="Calibri" pitchFamily="34" charset="-122"/>
                <a:cs typeface="Calibri" pitchFamily="34" charset="-120"/>
              </a:rPr>
              <a:t>WHY STAR SCHEMA?</a:t>
            </a:r>
            <a:endParaRPr lang="en-US" sz="1200" dirty="0"/>
          </a:p>
        </p:txBody>
      </p:sp>
      <p:sp>
        <p:nvSpPr>
          <p:cNvPr id="14" name="Text 12"/>
          <p:cNvSpPr/>
          <p:nvPr/>
        </p:nvSpPr>
        <p:spPr>
          <a:xfrm>
            <a:off x="8366760" y="2194560"/>
            <a:ext cx="3108960" cy="3200400"/>
          </a:xfrm>
          <a:prstGeom prst="rect">
            <a:avLst/>
          </a:prstGeom>
          <a:noFill/>
          <a:ln/>
        </p:spPr>
        <p:txBody>
          <a:bodyPr wrap="square" rtlCol="0" anchor="t"/>
          <a:lstStyle/>
          <a:p>
            <a:pPr marL="228600" indent="-228600">
              <a:lnSpc>
                <a:spcPct val="115000"/>
              </a:lnSpc>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Easy to understand</a:t>
            </a:r>
            <a:endParaRPr lang="en-US" sz="1250" dirty="0"/>
          </a:p>
          <a:p>
            <a:pPr marL="228600" indent="-228600">
              <a:lnSpc>
                <a:spcPct val="115000"/>
              </a:lnSpc>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Better organized</a:t>
            </a:r>
            <a:endParaRPr lang="en-US" sz="1250" dirty="0"/>
          </a:p>
          <a:p>
            <a:pPr marL="228600" indent="-228600">
              <a:lnSpc>
                <a:spcPct val="115000"/>
              </a:lnSpc>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Makes analysis easier</a:t>
            </a:r>
            <a:endParaRPr lang="en-US" sz="1250" dirty="0"/>
          </a:p>
          <a:p>
            <a:pPr marL="228600" indent="-228600">
              <a:lnSpc>
                <a:spcPct val="115000"/>
              </a:lnSpc>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Helps create efficient Power BI reports</a:t>
            </a:r>
            <a:endParaRPr lang="en-US" sz="1250" dirty="0"/>
          </a:p>
        </p:txBody>
      </p:sp>
      <p:sp>
        <p:nvSpPr>
          <p:cNvPr id="15" name="Text 13"/>
          <p:cNvSpPr/>
          <p:nvPr/>
        </p:nvSpPr>
        <p:spPr>
          <a:xfrm>
            <a:off x="548640" y="4343400"/>
            <a:ext cx="7315200" cy="914400"/>
          </a:xfrm>
          <a:prstGeom prst="rect">
            <a:avLst/>
          </a:prstGeom>
          <a:noFill/>
          <a:ln/>
        </p:spPr>
        <p:txBody>
          <a:bodyPr wrap="square" rtlCol="0" anchor="ctr"/>
          <a:lstStyle/>
          <a:p>
            <a:pPr marL="0" indent="0">
              <a:buNone/>
            </a:pPr>
            <a:endParaRPr lang="en-US" sz="1250" dirty="0"/>
          </a:p>
        </p:txBody>
      </p:sp>
      <p:sp>
        <p:nvSpPr>
          <p:cNvPr id="16" name="Text 14"/>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7" name="Text 1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Slicers &amp; Filters</a:t>
            </a:r>
            <a:endParaRPr lang="en-US" sz="3000" dirty="0"/>
          </a:p>
        </p:txBody>
      </p:sp>
      <p:sp>
        <p:nvSpPr>
          <p:cNvPr id="4" name="Text 2"/>
          <p:cNvSpPr/>
          <p:nvPr/>
        </p:nvSpPr>
        <p:spPr>
          <a:xfrm>
            <a:off x="548640" y="1554480"/>
            <a:ext cx="5303520" cy="4572000"/>
          </a:xfrm>
          <a:prstGeom prst="rect">
            <a:avLst/>
          </a:prstGeom>
          <a:noFill/>
          <a:ln/>
        </p:spPr>
        <p:txBody>
          <a:bodyPr wrap="square" rtlCol="0" anchor="t"/>
          <a:lstStyle/>
          <a:p>
            <a:pPr marL="228600" indent="-228600">
              <a:lnSpc>
                <a:spcPct val="115000"/>
              </a:lnSpc>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Five slicers were added: Year, Month, Order Channel, Drink Category, and Rewards Member.</a:t>
            </a:r>
            <a:endParaRPr lang="en-US" sz="1400" dirty="0"/>
          </a:p>
          <a:p>
            <a:pPr marL="228600" indent="-228600">
              <a:lnSpc>
                <a:spcPct val="115000"/>
              </a:lnSpc>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Slicers let users filter the entire dashboard to a specific segment instantly.</a:t>
            </a:r>
            <a:endParaRPr lang="en-US" sz="1400" dirty="0"/>
          </a:p>
          <a:p>
            <a:pPr marL="228600" indent="-228600">
              <a:lnSpc>
                <a:spcPct val="115000"/>
              </a:lnSpc>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Example: selecting 2025 in the Year slicer updates every chart to show only 2025 data.</a:t>
            </a:r>
            <a:endParaRPr lang="en-US" sz="1400" dirty="0"/>
          </a:p>
          <a:p>
            <a:pPr marL="228600" indent="-228600">
              <a:lnSpc>
                <a:spcPct val="115000"/>
              </a:lnSpc>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Example: selecting Mobile App shows performance for that channel alone.</a:t>
            </a:r>
            <a:endParaRPr lang="en-US" sz="1400" dirty="0"/>
          </a:p>
          <a:p>
            <a:pPr marL="228600" indent="-228600">
              <a:lnSpc>
                <a:spcPct val="115000"/>
              </a:lnSpc>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This makes the dashboard exploratory — not just a static report.</a:t>
            </a:r>
            <a:endParaRPr lang="en-US" sz="1400" dirty="0"/>
          </a:p>
        </p:txBody>
      </p:sp>
      <p:sp>
        <p:nvSpPr>
          <p:cNvPr id="5" name="Shape 3"/>
          <p:cNvSpPr/>
          <p:nvPr/>
        </p:nvSpPr>
        <p:spPr>
          <a:xfrm>
            <a:off x="6309360" y="1554480"/>
            <a:ext cx="5303520" cy="4572000"/>
          </a:xfrm>
          <a:prstGeom prst="roundRect">
            <a:avLst>
              <a:gd name="adj" fmla="val 2400"/>
            </a:avLst>
          </a:prstGeom>
          <a:solidFill>
            <a:srgbClr val="0C3B2E"/>
          </a:solidFill>
          <a:ln/>
        </p:spPr>
        <p:txBody>
          <a:bodyPr/>
          <a:lstStyle/>
          <a:p>
            <a:endParaRPr lang="en-IN"/>
          </a:p>
        </p:txBody>
      </p:sp>
      <p:sp>
        <p:nvSpPr>
          <p:cNvPr id="6" name="Text 4"/>
          <p:cNvSpPr/>
          <p:nvPr/>
        </p:nvSpPr>
        <p:spPr>
          <a:xfrm>
            <a:off x="6583680" y="1783080"/>
            <a:ext cx="4572000" cy="320040"/>
          </a:xfrm>
          <a:prstGeom prst="rect">
            <a:avLst/>
          </a:prstGeom>
          <a:noFill/>
          <a:ln/>
        </p:spPr>
        <p:txBody>
          <a:bodyPr wrap="square" rtlCol="0" anchor="ctr"/>
          <a:lstStyle/>
          <a:p>
            <a:pPr marL="0" indent="0">
              <a:buNone/>
            </a:pPr>
            <a:r>
              <a:rPr lang="en-US" sz="1200" b="1" kern="0" spc="150" dirty="0">
                <a:solidFill>
                  <a:srgbClr val="C9A24B"/>
                </a:solidFill>
                <a:latin typeface="Calibri" pitchFamily="34" charset="0"/>
                <a:ea typeface="Calibri" pitchFamily="34" charset="-122"/>
                <a:cs typeface="Calibri" pitchFamily="34" charset="-120"/>
              </a:rPr>
              <a:t>FILTERS PANEL</a:t>
            </a:r>
            <a:endParaRPr lang="en-US" sz="1200" dirty="0"/>
          </a:p>
        </p:txBody>
      </p:sp>
      <p:sp>
        <p:nvSpPr>
          <p:cNvPr id="7" name="Shape 5"/>
          <p:cNvSpPr/>
          <p:nvPr/>
        </p:nvSpPr>
        <p:spPr>
          <a:xfrm>
            <a:off x="6583680" y="2286000"/>
            <a:ext cx="4754880" cy="594360"/>
          </a:xfrm>
          <a:prstGeom prst="roundRect">
            <a:avLst>
              <a:gd name="adj" fmla="val 12308"/>
            </a:avLst>
          </a:prstGeom>
          <a:solidFill>
            <a:srgbClr val="134639"/>
          </a:solidFill>
          <a:ln w="12700">
            <a:solidFill>
              <a:srgbClr val="00704A"/>
            </a:solidFill>
            <a:prstDash val="solid"/>
          </a:ln>
        </p:spPr>
        <p:txBody>
          <a:bodyPr/>
          <a:lstStyle/>
          <a:p>
            <a:endParaRPr lang="en-IN"/>
          </a:p>
        </p:txBody>
      </p:sp>
      <p:sp>
        <p:nvSpPr>
          <p:cNvPr id="8" name="Text 6"/>
          <p:cNvSpPr/>
          <p:nvPr/>
        </p:nvSpPr>
        <p:spPr>
          <a:xfrm>
            <a:off x="6812280" y="2286000"/>
            <a:ext cx="27432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Year</a:t>
            </a:r>
            <a:endParaRPr lang="en-US" sz="1300" dirty="0"/>
          </a:p>
        </p:txBody>
      </p:sp>
      <p:sp>
        <p:nvSpPr>
          <p:cNvPr id="9" name="Text 7"/>
          <p:cNvSpPr/>
          <p:nvPr/>
        </p:nvSpPr>
        <p:spPr>
          <a:xfrm>
            <a:off x="9601200" y="2286000"/>
            <a:ext cx="1554480" cy="594360"/>
          </a:xfrm>
          <a:prstGeom prst="rect">
            <a:avLst/>
          </a:prstGeom>
          <a:noFill/>
          <a:ln/>
        </p:spPr>
        <p:txBody>
          <a:bodyPr wrap="square" rtlCol="0" anchor="ctr"/>
          <a:lstStyle/>
          <a:p>
            <a:pPr marL="0" indent="0" algn="r">
              <a:buNone/>
            </a:pPr>
            <a:r>
              <a:rPr lang="en-US" sz="1200" dirty="0">
                <a:solidFill>
                  <a:srgbClr val="EAF3EF"/>
                </a:solidFill>
                <a:latin typeface="Calibri" pitchFamily="34" charset="0"/>
                <a:ea typeface="Calibri" pitchFamily="34" charset="-122"/>
                <a:cs typeface="Calibri" pitchFamily="34" charset="-120"/>
              </a:rPr>
              <a:t>All ▾</a:t>
            </a:r>
            <a:endParaRPr lang="en-US" sz="1200" dirty="0"/>
          </a:p>
        </p:txBody>
      </p:sp>
      <p:sp>
        <p:nvSpPr>
          <p:cNvPr id="10" name="Shape 8"/>
          <p:cNvSpPr/>
          <p:nvPr/>
        </p:nvSpPr>
        <p:spPr>
          <a:xfrm>
            <a:off x="6583680" y="3035808"/>
            <a:ext cx="4754880" cy="594360"/>
          </a:xfrm>
          <a:prstGeom prst="roundRect">
            <a:avLst>
              <a:gd name="adj" fmla="val 12308"/>
            </a:avLst>
          </a:prstGeom>
          <a:solidFill>
            <a:srgbClr val="134639"/>
          </a:solidFill>
          <a:ln w="12700">
            <a:solidFill>
              <a:srgbClr val="00704A"/>
            </a:solidFill>
            <a:prstDash val="solid"/>
          </a:ln>
        </p:spPr>
        <p:txBody>
          <a:bodyPr/>
          <a:lstStyle/>
          <a:p>
            <a:endParaRPr lang="en-IN"/>
          </a:p>
        </p:txBody>
      </p:sp>
      <p:sp>
        <p:nvSpPr>
          <p:cNvPr id="11" name="Text 9"/>
          <p:cNvSpPr/>
          <p:nvPr/>
        </p:nvSpPr>
        <p:spPr>
          <a:xfrm>
            <a:off x="6812280" y="3035808"/>
            <a:ext cx="27432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Month</a:t>
            </a:r>
            <a:endParaRPr lang="en-US" sz="1300" dirty="0"/>
          </a:p>
        </p:txBody>
      </p:sp>
      <p:sp>
        <p:nvSpPr>
          <p:cNvPr id="12" name="Text 10"/>
          <p:cNvSpPr/>
          <p:nvPr/>
        </p:nvSpPr>
        <p:spPr>
          <a:xfrm>
            <a:off x="9601200" y="3035808"/>
            <a:ext cx="1554480" cy="594360"/>
          </a:xfrm>
          <a:prstGeom prst="rect">
            <a:avLst/>
          </a:prstGeom>
          <a:noFill/>
          <a:ln/>
        </p:spPr>
        <p:txBody>
          <a:bodyPr wrap="square" rtlCol="0" anchor="ctr"/>
          <a:lstStyle/>
          <a:p>
            <a:pPr marL="0" indent="0" algn="r">
              <a:buNone/>
            </a:pPr>
            <a:r>
              <a:rPr lang="en-US" sz="1200" dirty="0">
                <a:solidFill>
                  <a:srgbClr val="EAF3EF"/>
                </a:solidFill>
                <a:latin typeface="Calibri" pitchFamily="34" charset="0"/>
                <a:ea typeface="Calibri" pitchFamily="34" charset="-122"/>
                <a:cs typeface="Calibri" pitchFamily="34" charset="-120"/>
              </a:rPr>
              <a:t>All ▾</a:t>
            </a:r>
            <a:endParaRPr lang="en-US" sz="1200" dirty="0"/>
          </a:p>
        </p:txBody>
      </p:sp>
      <p:sp>
        <p:nvSpPr>
          <p:cNvPr id="13" name="Shape 11"/>
          <p:cNvSpPr/>
          <p:nvPr/>
        </p:nvSpPr>
        <p:spPr>
          <a:xfrm>
            <a:off x="6583680" y="3785616"/>
            <a:ext cx="4754880" cy="594360"/>
          </a:xfrm>
          <a:prstGeom prst="roundRect">
            <a:avLst>
              <a:gd name="adj" fmla="val 12308"/>
            </a:avLst>
          </a:prstGeom>
          <a:solidFill>
            <a:srgbClr val="134639"/>
          </a:solidFill>
          <a:ln w="12700">
            <a:solidFill>
              <a:srgbClr val="00704A"/>
            </a:solidFill>
            <a:prstDash val="solid"/>
          </a:ln>
        </p:spPr>
        <p:txBody>
          <a:bodyPr/>
          <a:lstStyle/>
          <a:p>
            <a:endParaRPr lang="en-IN"/>
          </a:p>
        </p:txBody>
      </p:sp>
      <p:sp>
        <p:nvSpPr>
          <p:cNvPr id="14" name="Text 12"/>
          <p:cNvSpPr/>
          <p:nvPr/>
        </p:nvSpPr>
        <p:spPr>
          <a:xfrm>
            <a:off x="6812280" y="3785616"/>
            <a:ext cx="27432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Order Channel</a:t>
            </a:r>
            <a:endParaRPr lang="en-US" sz="1300" dirty="0"/>
          </a:p>
        </p:txBody>
      </p:sp>
      <p:sp>
        <p:nvSpPr>
          <p:cNvPr id="15" name="Text 13"/>
          <p:cNvSpPr/>
          <p:nvPr/>
        </p:nvSpPr>
        <p:spPr>
          <a:xfrm>
            <a:off x="9601200" y="3785616"/>
            <a:ext cx="1554480" cy="594360"/>
          </a:xfrm>
          <a:prstGeom prst="rect">
            <a:avLst/>
          </a:prstGeom>
          <a:noFill/>
          <a:ln/>
        </p:spPr>
        <p:txBody>
          <a:bodyPr wrap="square" rtlCol="0" anchor="ctr"/>
          <a:lstStyle/>
          <a:p>
            <a:pPr marL="0" indent="0" algn="r">
              <a:buNone/>
            </a:pPr>
            <a:r>
              <a:rPr lang="en-US" sz="1200" dirty="0">
                <a:solidFill>
                  <a:srgbClr val="EAF3EF"/>
                </a:solidFill>
                <a:latin typeface="Calibri" pitchFamily="34" charset="0"/>
                <a:ea typeface="Calibri" pitchFamily="34" charset="-122"/>
                <a:cs typeface="Calibri" pitchFamily="34" charset="-120"/>
              </a:rPr>
              <a:t>All ▾</a:t>
            </a:r>
            <a:endParaRPr lang="en-US" sz="1200" dirty="0"/>
          </a:p>
        </p:txBody>
      </p:sp>
      <p:sp>
        <p:nvSpPr>
          <p:cNvPr id="16" name="Shape 14"/>
          <p:cNvSpPr/>
          <p:nvPr/>
        </p:nvSpPr>
        <p:spPr>
          <a:xfrm>
            <a:off x="6583680" y="4535424"/>
            <a:ext cx="4754880" cy="594360"/>
          </a:xfrm>
          <a:prstGeom prst="roundRect">
            <a:avLst>
              <a:gd name="adj" fmla="val 12308"/>
            </a:avLst>
          </a:prstGeom>
          <a:solidFill>
            <a:srgbClr val="134639"/>
          </a:solidFill>
          <a:ln w="12700">
            <a:solidFill>
              <a:srgbClr val="00704A"/>
            </a:solidFill>
            <a:prstDash val="solid"/>
          </a:ln>
        </p:spPr>
        <p:txBody>
          <a:bodyPr/>
          <a:lstStyle/>
          <a:p>
            <a:endParaRPr lang="en-IN"/>
          </a:p>
        </p:txBody>
      </p:sp>
      <p:sp>
        <p:nvSpPr>
          <p:cNvPr id="17" name="Text 15"/>
          <p:cNvSpPr/>
          <p:nvPr/>
        </p:nvSpPr>
        <p:spPr>
          <a:xfrm>
            <a:off x="6812280" y="4535424"/>
            <a:ext cx="27432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Drink Category</a:t>
            </a:r>
            <a:endParaRPr lang="en-US" sz="1300" dirty="0"/>
          </a:p>
        </p:txBody>
      </p:sp>
      <p:sp>
        <p:nvSpPr>
          <p:cNvPr id="18" name="Text 16"/>
          <p:cNvSpPr/>
          <p:nvPr/>
        </p:nvSpPr>
        <p:spPr>
          <a:xfrm>
            <a:off x="9601200" y="4535424"/>
            <a:ext cx="1554480" cy="594360"/>
          </a:xfrm>
          <a:prstGeom prst="rect">
            <a:avLst/>
          </a:prstGeom>
          <a:noFill/>
          <a:ln/>
        </p:spPr>
        <p:txBody>
          <a:bodyPr wrap="square" rtlCol="0" anchor="ctr"/>
          <a:lstStyle/>
          <a:p>
            <a:pPr marL="0" indent="0" algn="r">
              <a:buNone/>
            </a:pPr>
            <a:r>
              <a:rPr lang="en-US" sz="1200" dirty="0">
                <a:solidFill>
                  <a:srgbClr val="EAF3EF"/>
                </a:solidFill>
                <a:latin typeface="Calibri" pitchFamily="34" charset="0"/>
                <a:ea typeface="Calibri" pitchFamily="34" charset="-122"/>
                <a:cs typeface="Calibri" pitchFamily="34" charset="-120"/>
              </a:rPr>
              <a:t>All ▾</a:t>
            </a:r>
            <a:endParaRPr lang="en-US" sz="1200" dirty="0"/>
          </a:p>
        </p:txBody>
      </p:sp>
      <p:sp>
        <p:nvSpPr>
          <p:cNvPr id="19" name="Shape 17"/>
          <p:cNvSpPr/>
          <p:nvPr/>
        </p:nvSpPr>
        <p:spPr>
          <a:xfrm>
            <a:off x="6583680" y="5285232"/>
            <a:ext cx="4754880" cy="594360"/>
          </a:xfrm>
          <a:prstGeom prst="roundRect">
            <a:avLst>
              <a:gd name="adj" fmla="val 12308"/>
            </a:avLst>
          </a:prstGeom>
          <a:solidFill>
            <a:srgbClr val="134639"/>
          </a:solidFill>
          <a:ln w="12700">
            <a:solidFill>
              <a:srgbClr val="00704A"/>
            </a:solidFill>
            <a:prstDash val="solid"/>
          </a:ln>
        </p:spPr>
        <p:txBody>
          <a:bodyPr/>
          <a:lstStyle/>
          <a:p>
            <a:endParaRPr lang="en-IN"/>
          </a:p>
        </p:txBody>
      </p:sp>
      <p:sp>
        <p:nvSpPr>
          <p:cNvPr id="20" name="Text 18"/>
          <p:cNvSpPr/>
          <p:nvPr/>
        </p:nvSpPr>
        <p:spPr>
          <a:xfrm>
            <a:off x="6812280" y="5285232"/>
            <a:ext cx="27432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Rewards Member</a:t>
            </a:r>
            <a:endParaRPr lang="en-US" sz="1300" dirty="0"/>
          </a:p>
        </p:txBody>
      </p:sp>
      <p:sp>
        <p:nvSpPr>
          <p:cNvPr id="21" name="Text 19"/>
          <p:cNvSpPr/>
          <p:nvPr/>
        </p:nvSpPr>
        <p:spPr>
          <a:xfrm>
            <a:off x="9601200" y="5285232"/>
            <a:ext cx="1554480" cy="594360"/>
          </a:xfrm>
          <a:prstGeom prst="rect">
            <a:avLst/>
          </a:prstGeom>
          <a:noFill/>
          <a:ln/>
        </p:spPr>
        <p:txBody>
          <a:bodyPr wrap="square" rtlCol="0" anchor="ctr"/>
          <a:lstStyle/>
          <a:p>
            <a:pPr marL="0" indent="0" algn="r">
              <a:buNone/>
            </a:pPr>
            <a:r>
              <a:rPr lang="en-US" sz="1200" dirty="0">
                <a:solidFill>
                  <a:srgbClr val="EAF3EF"/>
                </a:solidFill>
                <a:latin typeface="Calibri" pitchFamily="34" charset="0"/>
                <a:ea typeface="Calibri" pitchFamily="34" charset="-122"/>
                <a:cs typeface="Calibri" pitchFamily="34" charset="-120"/>
              </a:rPr>
              <a:t>All ▾</a:t>
            </a:r>
            <a:endParaRPr lang="en-US" sz="1200" dirty="0"/>
          </a:p>
        </p:txBody>
      </p:sp>
      <p:sp>
        <p:nvSpPr>
          <p:cNvPr id="22" name="Text 20"/>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23" name="Text 2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KPI Metrics</a:t>
            </a:r>
            <a:endParaRPr lang="en-US" sz="3000" dirty="0"/>
          </a:p>
        </p:txBody>
      </p:sp>
      <p:sp>
        <p:nvSpPr>
          <p:cNvPr id="4" name="Text 2"/>
          <p:cNvSpPr/>
          <p:nvPr/>
        </p:nvSpPr>
        <p:spPr>
          <a:xfrm>
            <a:off x="548640" y="1417320"/>
            <a:ext cx="10972800" cy="320040"/>
          </a:xfrm>
          <a:prstGeom prst="rect">
            <a:avLst/>
          </a:prstGeom>
          <a:noFill/>
          <a:ln/>
        </p:spPr>
        <p:txBody>
          <a:bodyPr wrap="square" rtlCol="0" anchor="ctr"/>
          <a:lstStyle/>
          <a:p>
            <a:pPr marL="0" indent="0">
              <a:buNone/>
            </a:pPr>
            <a:r>
              <a:rPr lang="en-US" sz="1300" i="1" dirty="0">
                <a:solidFill>
                  <a:srgbClr val="5B6B66"/>
                </a:solidFill>
                <a:latin typeface="Calibri" pitchFamily="34" charset="0"/>
                <a:ea typeface="Calibri" pitchFamily="34" charset="-122"/>
                <a:cs typeface="Calibri" pitchFamily="34" charset="-120"/>
              </a:rPr>
              <a:t>KPI cards give a quick overview of overall business performance.</a:t>
            </a:r>
            <a:endParaRPr lang="en-US" sz="1300" dirty="0"/>
          </a:p>
        </p:txBody>
      </p:sp>
      <p:sp>
        <p:nvSpPr>
          <p:cNvPr id="5" name="Shape 3"/>
          <p:cNvSpPr/>
          <p:nvPr/>
        </p:nvSpPr>
        <p:spPr>
          <a:xfrm>
            <a:off x="548640" y="1874520"/>
            <a:ext cx="2139696" cy="2286000"/>
          </a:xfrm>
          <a:prstGeom prst="roundRect">
            <a:avLst>
              <a:gd name="adj" fmla="val 4274"/>
            </a:avLst>
          </a:prstGeom>
          <a:solidFill>
            <a:srgbClr val="00704A"/>
          </a:solidFill>
          <a:ln w="19050">
            <a:solidFill>
              <a:srgbClr val="EAF3EF"/>
            </a:solidFill>
            <a:prstDash val="solid"/>
          </a:ln>
          <a:effectLst>
            <a:outerShdw blurRad="76200" dist="25400" dir="5400000" algn="bl" rotWithShape="0">
              <a:srgbClr val="888888">
                <a:alpha val="25000"/>
              </a:srgbClr>
            </a:outerShdw>
          </a:effectLst>
        </p:spPr>
        <p:txBody>
          <a:bodyPr/>
          <a:lstStyle/>
          <a:p>
            <a:endParaRPr lang="en-IN"/>
          </a:p>
        </p:txBody>
      </p:sp>
      <p:sp>
        <p:nvSpPr>
          <p:cNvPr id="6" name="Text 4"/>
          <p:cNvSpPr/>
          <p:nvPr/>
        </p:nvSpPr>
        <p:spPr>
          <a:xfrm>
            <a:off x="685800" y="2057400"/>
            <a:ext cx="1865376" cy="548640"/>
          </a:xfrm>
          <a:prstGeom prst="rect">
            <a:avLst/>
          </a:prstGeom>
          <a:noFill/>
          <a:ln/>
        </p:spPr>
        <p:txBody>
          <a:bodyPr wrap="square" rtlCol="0" anchor="ctr"/>
          <a:lstStyle/>
          <a:p>
            <a:pPr marL="0" indent="0" algn="ctr">
              <a:buNone/>
            </a:pPr>
            <a:r>
              <a:rPr lang="en-US" sz="1050" b="1" dirty="0">
                <a:solidFill>
                  <a:srgbClr val="EAF3EF"/>
                </a:solidFill>
                <a:latin typeface="Calibri" pitchFamily="34" charset="0"/>
                <a:ea typeface="Calibri" pitchFamily="34" charset="-122"/>
                <a:cs typeface="Calibri" pitchFamily="34" charset="-120"/>
              </a:rPr>
              <a:t>TOTAL REVENUE</a:t>
            </a:r>
            <a:endParaRPr lang="en-US" sz="1050" dirty="0"/>
          </a:p>
        </p:txBody>
      </p:sp>
      <p:sp>
        <p:nvSpPr>
          <p:cNvPr id="7" name="Text 5"/>
          <p:cNvSpPr/>
          <p:nvPr/>
        </p:nvSpPr>
        <p:spPr>
          <a:xfrm>
            <a:off x="640080" y="2560320"/>
            <a:ext cx="1956816"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$14.9M</a:t>
            </a:r>
            <a:endParaRPr lang="en-US" sz="2200" dirty="0"/>
          </a:p>
        </p:txBody>
      </p:sp>
      <p:sp>
        <p:nvSpPr>
          <p:cNvPr id="8" name="Text 6"/>
          <p:cNvSpPr/>
          <p:nvPr/>
        </p:nvSpPr>
        <p:spPr>
          <a:xfrm>
            <a:off x="685800" y="3246120"/>
            <a:ext cx="1865376" cy="822960"/>
          </a:xfrm>
          <a:prstGeom prst="rect">
            <a:avLst/>
          </a:prstGeom>
          <a:noFill/>
          <a:ln/>
        </p:spPr>
        <p:txBody>
          <a:bodyPr wrap="square" rtlCol="0" anchor="ctr"/>
          <a:lstStyle/>
          <a:p>
            <a:pPr marL="0" indent="0" algn="ctr">
              <a:buNone/>
            </a:pPr>
            <a:r>
              <a:rPr lang="en-US" sz="950" i="1" dirty="0">
                <a:solidFill>
                  <a:srgbClr val="EAF3EF"/>
                </a:solidFill>
                <a:latin typeface="Calibri" pitchFamily="34" charset="0"/>
                <a:ea typeface="Calibri" pitchFamily="34" charset="-122"/>
                <a:cs typeface="Calibri" pitchFamily="34" charset="-120"/>
              </a:rPr>
              <a:t>Total amount generated from orders</a:t>
            </a:r>
            <a:endParaRPr lang="en-US" sz="950" dirty="0"/>
          </a:p>
        </p:txBody>
      </p:sp>
      <p:sp>
        <p:nvSpPr>
          <p:cNvPr id="9" name="Shape 7"/>
          <p:cNvSpPr/>
          <p:nvPr/>
        </p:nvSpPr>
        <p:spPr>
          <a:xfrm>
            <a:off x="2825496" y="1874520"/>
            <a:ext cx="2139696" cy="2286000"/>
          </a:xfrm>
          <a:prstGeom prst="roundRect">
            <a:avLst>
              <a:gd name="adj" fmla="val 4274"/>
            </a:avLst>
          </a:prstGeom>
          <a:solidFill>
            <a:srgbClr val="FFFFFF"/>
          </a:solidFill>
          <a:ln w="19050">
            <a:solidFill>
              <a:srgbClr val="EAF3EF"/>
            </a:solidFill>
            <a:prstDash val="solid"/>
          </a:ln>
          <a:effectLst>
            <a:outerShdw blurRad="76200" dist="25400" dir="5400000" algn="bl" rotWithShape="0">
              <a:srgbClr val="888888">
                <a:alpha val="25000"/>
              </a:srgbClr>
            </a:outerShdw>
          </a:effectLst>
        </p:spPr>
        <p:txBody>
          <a:bodyPr/>
          <a:lstStyle/>
          <a:p>
            <a:endParaRPr lang="en-IN"/>
          </a:p>
        </p:txBody>
      </p:sp>
      <p:sp>
        <p:nvSpPr>
          <p:cNvPr id="10" name="Text 8"/>
          <p:cNvSpPr/>
          <p:nvPr/>
        </p:nvSpPr>
        <p:spPr>
          <a:xfrm>
            <a:off x="2962656" y="2057400"/>
            <a:ext cx="1865376" cy="548640"/>
          </a:xfrm>
          <a:prstGeom prst="rect">
            <a:avLst/>
          </a:prstGeom>
          <a:noFill/>
          <a:ln/>
        </p:spPr>
        <p:txBody>
          <a:bodyPr wrap="square" rtlCol="0" anchor="ctr"/>
          <a:lstStyle/>
          <a:p>
            <a:pPr marL="0" indent="0" algn="ctr">
              <a:buNone/>
            </a:pPr>
            <a:r>
              <a:rPr lang="en-US" sz="1050" b="1" dirty="0">
                <a:solidFill>
                  <a:srgbClr val="00704A"/>
                </a:solidFill>
                <a:latin typeface="Calibri" pitchFamily="34" charset="0"/>
                <a:ea typeface="Calibri" pitchFamily="34" charset="-122"/>
                <a:cs typeface="Calibri" pitchFamily="34" charset="-120"/>
              </a:rPr>
              <a:t>TOTAL ORDERS</a:t>
            </a:r>
            <a:endParaRPr lang="en-US" sz="1050" dirty="0"/>
          </a:p>
        </p:txBody>
      </p:sp>
      <p:sp>
        <p:nvSpPr>
          <p:cNvPr id="11" name="Text 9"/>
          <p:cNvSpPr/>
          <p:nvPr/>
        </p:nvSpPr>
        <p:spPr>
          <a:xfrm>
            <a:off x="2916936" y="2560320"/>
            <a:ext cx="1956816" cy="640080"/>
          </a:xfrm>
          <a:prstGeom prst="rect">
            <a:avLst/>
          </a:prstGeom>
          <a:noFill/>
          <a:ln/>
        </p:spPr>
        <p:txBody>
          <a:bodyPr wrap="square" rtlCol="0" anchor="ctr"/>
          <a:lstStyle/>
          <a:p>
            <a:pPr marL="0" indent="0" algn="ctr">
              <a:buNone/>
            </a:pPr>
            <a:r>
              <a:rPr lang="en-US" sz="2200" b="1" dirty="0">
                <a:solidFill>
                  <a:srgbClr val="0C3B2E"/>
                </a:solidFill>
                <a:latin typeface="Calibri" pitchFamily="34" charset="0"/>
                <a:ea typeface="Calibri" pitchFamily="34" charset="-122"/>
                <a:cs typeface="Calibri" pitchFamily="34" charset="-120"/>
              </a:rPr>
              <a:t>100K</a:t>
            </a:r>
            <a:endParaRPr lang="en-US" sz="2200" dirty="0"/>
          </a:p>
        </p:txBody>
      </p:sp>
      <p:sp>
        <p:nvSpPr>
          <p:cNvPr id="12" name="Text 10"/>
          <p:cNvSpPr/>
          <p:nvPr/>
        </p:nvSpPr>
        <p:spPr>
          <a:xfrm>
            <a:off x="2962656" y="3246120"/>
            <a:ext cx="1865376" cy="822960"/>
          </a:xfrm>
          <a:prstGeom prst="rect">
            <a:avLst/>
          </a:prstGeom>
          <a:noFill/>
          <a:ln/>
        </p:spPr>
        <p:txBody>
          <a:bodyPr wrap="square" rtlCol="0" anchor="ctr"/>
          <a:lstStyle/>
          <a:p>
            <a:pPr marL="0" indent="0" algn="ctr">
              <a:buNone/>
            </a:pPr>
            <a:r>
              <a:rPr lang="en-US" sz="950" i="1" dirty="0">
                <a:solidFill>
                  <a:srgbClr val="5B6B66"/>
                </a:solidFill>
                <a:latin typeface="Calibri" pitchFamily="34" charset="0"/>
                <a:ea typeface="Calibri" pitchFamily="34" charset="-122"/>
                <a:cs typeface="Calibri" pitchFamily="34" charset="-120"/>
              </a:rPr>
              <a:t>Total number of orders placed</a:t>
            </a:r>
            <a:endParaRPr lang="en-US" sz="950" dirty="0"/>
          </a:p>
        </p:txBody>
      </p:sp>
      <p:sp>
        <p:nvSpPr>
          <p:cNvPr id="13" name="Shape 11"/>
          <p:cNvSpPr/>
          <p:nvPr/>
        </p:nvSpPr>
        <p:spPr>
          <a:xfrm>
            <a:off x="5102352" y="1874520"/>
            <a:ext cx="2139696" cy="2286000"/>
          </a:xfrm>
          <a:prstGeom prst="roundRect">
            <a:avLst>
              <a:gd name="adj" fmla="val 4274"/>
            </a:avLst>
          </a:prstGeom>
          <a:solidFill>
            <a:srgbClr val="FFFFFF"/>
          </a:solidFill>
          <a:ln w="19050">
            <a:solidFill>
              <a:srgbClr val="EAF3EF"/>
            </a:solidFill>
            <a:prstDash val="solid"/>
          </a:ln>
          <a:effectLst>
            <a:outerShdw blurRad="76200" dist="25400" dir="5400000" algn="bl" rotWithShape="0">
              <a:srgbClr val="888888">
                <a:alpha val="25000"/>
              </a:srgbClr>
            </a:outerShdw>
          </a:effectLst>
        </p:spPr>
        <p:txBody>
          <a:bodyPr/>
          <a:lstStyle/>
          <a:p>
            <a:endParaRPr lang="en-IN"/>
          </a:p>
        </p:txBody>
      </p:sp>
      <p:sp>
        <p:nvSpPr>
          <p:cNvPr id="14" name="Text 12"/>
          <p:cNvSpPr/>
          <p:nvPr/>
        </p:nvSpPr>
        <p:spPr>
          <a:xfrm>
            <a:off x="5239512" y="2057400"/>
            <a:ext cx="1865376" cy="548640"/>
          </a:xfrm>
          <a:prstGeom prst="rect">
            <a:avLst/>
          </a:prstGeom>
          <a:noFill/>
          <a:ln/>
        </p:spPr>
        <p:txBody>
          <a:bodyPr wrap="square" rtlCol="0" anchor="ctr"/>
          <a:lstStyle/>
          <a:p>
            <a:pPr marL="0" indent="0" algn="ctr">
              <a:buNone/>
            </a:pPr>
            <a:r>
              <a:rPr lang="en-US" sz="1050" b="1" dirty="0">
                <a:solidFill>
                  <a:srgbClr val="00704A"/>
                </a:solidFill>
                <a:latin typeface="Calibri" pitchFamily="34" charset="0"/>
                <a:ea typeface="Calibri" pitchFamily="34" charset="-122"/>
                <a:cs typeface="Calibri" pitchFamily="34" charset="-120"/>
              </a:rPr>
              <a:t>AVG ORDER VALUE</a:t>
            </a:r>
            <a:endParaRPr lang="en-US" sz="1050" dirty="0"/>
          </a:p>
        </p:txBody>
      </p:sp>
      <p:sp>
        <p:nvSpPr>
          <p:cNvPr id="15" name="Text 13"/>
          <p:cNvSpPr/>
          <p:nvPr/>
        </p:nvSpPr>
        <p:spPr>
          <a:xfrm>
            <a:off x="5193792" y="2560320"/>
            <a:ext cx="1956816" cy="640080"/>
          </a:xfrm>
          <a:prstGeom prst="rect">
            <a:avLst/>
          </a:prstGeom>
          <a:noFill/>
          <a:ln/>
        </p:spPr>
        <p:txBody>
          <a:bodyPr wrap="square" rtlCol="0" anchor="ctr"/>
          <a:lstStyle/>
          <a:p>
            <a:pPr marL="0" indent="0" algn="ctr">
              <a:buNone/>
            </a:pPr>
            <a:r>
              <a:rPr lang="en-US" sz="2200" b="1" dirty="0">
                <a:solidFill>
                  <a:srgbClr val="0C3B2E"/>
                </a:solidFill>
                <a:latin typeface="Calibri" pitchFamily="34" charset="0"/>
                <a:ea typeface="Calibri" pitchFamily="34" charset="-122"/>
                <a:cs typeface="Calibri" pitchFamily="34" charset="-120"/>
              </a:rPr>
              <a:t>$14.87</a:t>
            </a:r>
            <a:endParaRPr lang="en-US" sz="2200" dirty="0"/>
          </a:p>
        </p:txBody>
      </p:sp>
      <p:sp>
        <p:nvSpPr>
          <p:cNvPr id="16" name="Text 14"/>
          <p:cNvSpPr/>
          <p:nvPr/>
        </p:nvSpPr>
        <p:spPr>
          <a:xfrm>
            <a:off x="5239512" y="3246120"/>
            <a:ext cx="1865376" cy="822960"/>
          </a:xfrm>
          <a:prstGeom prst="rect">
            <a:avLst/>
          </a:prstGeom>
          <a:noFill/>
          <a:ln/>
        </p:spPr>
        <p:txBody>
          <a:bodyPr wrap="square" rtlCol="0" anchor="ctr"/>
          <a:lstStyle/>
          <a:p>
            <a:pPr marL="0" indent="0" algn="ctr">
              <a:buNone/>
            </a:pPr>
            <a:r>
              <a:rPr lang="en-US" sz="950" i="1" dirty="0">
                <a:solidFill>
                  <a:srgbClr val="5B6B66"/>
                </a:solidFill>
                <a:latin typeface="Calibri" pitchFamily="34" charset="0"/>
                <a:ea typeface="Calibri" pitchFamily="34" charset="-122"/>
                <a:cs typeface="Calibri" pitchFamily="34" charset="-120"/>
              </a:rPr>
              <a:t>Average amount spent per order</a:t>
            </a:r>
            <a:endParaRPr lang="en-US" sz="950" dirty="0"/>
          </a:p>
        </p:txBody>
      </p:sp>
      <p:sp>
        <p:nvSpPr>
          <p:cNvPr id="17" name="Shape 15"/>
          <p:cNvSpPr/>
          <p:nvPr/>
        </p:nvSpPr>
        <p:spPr>
          <a:xfrm>
            <a:off x="7379208" y="1874520"/>
            <a:ext cx="2139696" cy="2286000"/>
          </a:xfrm>
          <a:prstGeom prst="roundRect">
            <a:avLst>
              <a:gd name="adj" fmla="val 4274"/>
            </a:avLst>
          </a:prstGeom>
          <a:solidFill>
            <a:srgbClr val="FFFFFF"/>
          </a:solidFill>
          <a:ln w="19050">
            <a:solidFill>
              <a:srgbClr val="EAF3EF"/>
            </a:solidFill>
            <a:prstDash val="solid"/>
          </a:ln>
          <a:effectLst>
            <a:outerShdw blurRad="76200" dist="25400" dir="5400000" algn="bl" rotWithShape="0">
              <a:srgbClr val="888888">
                <a:alpha val="25000"/>
              </a:srgbClr>
            </a:outerShdw>
          </a:effectLst>
        </p:spPr>
        <p:txBody>
          <a:bodyPr/>
          <a:lstStyle/>
          <a:p>
            <a:endParaRPr lang="en-IN"/>
          </a:p>
        </p:txBody>
      </p:sp>
      <p:sp>
        <p:nvSpPr>
          <p:cNvPr id="18" name="Text 16"/>
          <p:cNvSpPr/>
          <p:nvPr/>
        </p:nvSpPr>
        <p:spPr>
          <a:xfrm>
            <a:off x="7516368" y="2057400"/>
            <a:ext cx="1865376" cy="548640"/>
          </a:xfrm>
          <a:prstGeom prst="rect">
            <a:avLst/>
          </a:prstGeom>
          <a:noFill/>
          <a:ln/>
        </p:spPr>
        <p:txBody>
          <a:bodyPr wrap="square" rtlCol="0" anchor="ctr"/>
          <a:lstStyle/>
          <a:p>
            <a:pPr marL="0" indent="0" algn="ctr">
              <a:buNone/>
            </a:pPr>
            <a:r>
              <a:rPr lang="en-US" sz="1050" b="1" dirty="0">
                <a:solidFill>
                  <a:srgbClr val="00704A"/>
                </a:solidFill>
                <a:latin typeface="Calibri" pitchFamily="34" charset="0"/>
                <a:ea typeface="Calibri" pitchFamily="34" charset="-122"/>
                <a:cs typeface="Calibri" pitchFamily="34" charset="-120"/>
              </a:rPr>
              <a:t>AVG SATISFACTION</a:t>
            </a:r>
            <a:endParaRPr lang="en-US" sz="1050" dirty="0"/>
          </a:p>
        </p:txBody>
      </p:sp>
      <p:sp>
        <p:nvSpPr>
          <p:cNvPr id="19" name="Text 17"/>
          <p:cNvSpPr/>
          <p:nvPr/>
        </p:nvSpPr>
        <p:spPr>
          <a:xfrm>
            <a:off x="7470648" y="2560320"/>
            <a:ext cx="1956816" cy="640080"/>
          </a:xfrm>
          <a:prstGeom prst="rect">
            <a:avLst/>
          </a:prstGeom>
          <a:noFill/>
          <a:ln/>
        </p:spPr>
        <p:txBody>
          <a:bodyPr wrap="square" rtlCol="0" anchor="ctr"/>
          <a:lstStyle/>
          <a:p>
            <a:pPr marL="0" indent="0" algn="ctr">
              <a:buNone/>
            </a:pPr>
            <a:r>
              <a:rPr lang="en-US" sz="2200" b="1" dirty="0">
                <a:solidFill>
                  <a:srgbClr val="0C3B2E"/>
                </a:solidFill>
                <a:latin typeface="Calibri" pitchFamily="34" charset="0"/>
                <a:ea typeface="Calibri" pitchFamily="34" charset="-122"/>
                <a:cs typeface="Calibri" pitchFamily="34" charset="-120"/>
              </a:rPr>
              <a:t>4.55</a:t>
            </a:r>
            <a:endParaRPr lang="en-US" sz="2200" dirty="0"/>
          </a:p>
        </p:txBody>
      </p:sp>
      <p:sp>
        <p:nvSpPr>
          <p:cNvPr id="20" name="Text 18"/>
          <p:cNvSpPr/>
          <p:nvPr/>
        </p:nvSpPr>
        <p:spPr>
          <a:xfrm>
            <a:off x="7516368" y="3246120"/>
            <a:ext cx="1865376" cy="822960"/>
          </a:xfrm>
          <a:prstGeom prst="rect">
            <a:avLst/>
          </a:prstGeom>
          <a:noFill/>
          <a:ln/>
        </p:spPr>
        <p:txBody>
          <a:bodyPr wrap="square" rtlCol="0" anchor="ctr"/>
          <a:lstStyle/>
          <a:p>
            <a:pPr marL="0" indent="0" algn="ctr">
              <a:buNone/>
            </a:pPr>
            <a:r>
              <a:rPr lang="en-US" sz="950" i="1" dirty="0">
                <a:solidFill>
                  <a:srgbClr val="5B6B66"/>
                </a:solidFill>
                <a:latin typeface="Calibri" pitchFamily="34" charset="0"/>
                <a:ea typeface="Calibri" pitchFamily="34" charset="-122"/>
                <a:cs typeface="Calibri" pitchFamily="34" charset="-120"/>
              </a:rPr>
              <a:t>Average customer satisfaction score</a:t>
            </a:r>
            <a:endParaRPr lang="en-US" sz="950" dirty="0"/>
          </a:p>
        </p:txBody>
      </p:sp>
      <p:sp>
        <p:nvSpPr>
          <p:cNvPr id="21" name="Shape 19"/>
          <p:cNvSpPr/>
          <p:nvPr/>
        </p:nvSpPr>
        <p:spPr>
          <a:xfrm>
            <a:off x="9656064" y="1874520"/>
            <a:ext cx="2139696" cy="2286000"/>
          </a:xfrm>
          <a:prstGeom prst="roundRect">
            <a:avLst>
              <a:gd name="adj" fmla="val 4274"/>
            </a:avLst>
          </a:prstGeom>
          <a:solidFill>
            <a:srgbClr val="FFFFFF"/>
          </a:solidFill>
          <a:ln w="19050">
            <a:solidFill>
              <a:srgbClr val="EAF3EF"/>
            </a:solidFill>
            <a:prstDash val="solid"/>
          </a:ln>
          <a:effectLst>
            <a:outerShdw blurRad="76200" dist="25400" dir="5400000" algn="bl" rotWithShape="0">
              <a:srgbClr val="888888">
                <a:alpha val="25000"/>
              </a:srgbClr>
            </a:outerShdw>
          </a:effectLst>
        </p:spPr>
        <p:txBody>
          <a:bodyPr/>
          <a:lstStyle/>
          <a:p>
            <a:endParaRPr lang="en-IN"/>
          </a:p>
        </p:txBody>
      </p:sp>
      <p:sp>
        <p:nvSpPr>
          <p:cNvPr id="22" name="Text 20"/>
          <p:cNvSpPr/>
          <p:nvPr/>
        </p:nvSpPr>
        <p:spPr>
          <a:xfrm>
            <a:off x="9793224" y="2057400"/>
            <a:ext cx="1865376" cy="548640"/>
          </a:xfrm>
          <a:prstGeom prst="rect">
            <a:avLst/>
          </a:prstGeom>
          <a:noFill/>
          <a:ln/>
        </p:spPr>
        <p:txBody>
          <a:bodyPr wrap="square" rtlCol="0" anchor="ctr"/>
          <a:lstStyle/>
          <a:p>
            <a:pPr marL="0" indent="0" algn="ctr">
              <a:buNone/>
            </a:pPr>
            <a:r>
              <a:rPr lang="en-US" sz="1050" b="1" dirty="0">
                <a:solidFill>
                  <a:srgbClr val="00704A"/>
                </a:solidFill>
                <a:latin typeface="Calibri" pitchFamily="34" charset="0"/>
                <a:ea typeface="Calibri" pitchFamily="34" charset="-122"/>
                <a:cs typeface="Calibri" pitchFamily="34" charset="-120"/>
              </a:rPr>
              <a:t>AVG FULFILLMENT TIME</a:t>
            </a:r>
            <a:endParaRPr lang="en-US" sz="1050" dirty="0"/>
          </a:p>
        </p:txBody>
      </p:sp>
      <p:sp>
        <p:nvSpPr>
          <p:cNvPr id="23" name="Text 21"/>
          <p:cNvSpPr/>
          <p:nvPr/>
        </p:nvSpPr>
        <p:spPr>
          <a:xfrm>
            <a:off x="9747504" y="2560320"/>
            <a:ext cx="1956816" cy="640080"/>
          </a:xfrm>
          <a:prstGeom prst="rect">
            <a:avLst/>
          </a:prstGeom>
          <a:noFill/>
          <a:ln/>
        </p:spPr>
        <p:txBody>
          <a:bodyPr wrap="square" rtlCol="0" anchor="ctr"/>
          <a:lstStyle/>
          <a:p>
            <a:pPr marL="0" indent="0" algn="ctr">
              <a:buNone/>
            </a:pPr>
            <a:r>
              <a:rPr lang="en-US" sz="2200" b="1" dirty="0">
                <a:solidFill>
                  <a:srgbClr val="0C3B2E"/>
                </a:solidFill>
                <a:latin typeface="Calibri" pitchFamily="34" charset="0"/>
                <a:ea typeface="Calibri" pitchFamily="34" charset="-122"/>
                <a:cs typeface="Calibri" pitchFamily="34" charset="-120"/>
              </a:rPr>
              <a:t>3.99</a:t>
            </a:r>
            <a:endParaRPr lang="en-US" sz="2200" dirty="0"/>
          </a:p>
        </p:txBody>
      </p:sp>
      <p:sp>
        <p:nvSpPr>
          <p:cNvPr id="24" name="Text 22"/>
          <p:cNvSpPr/>
          <p:nvPr/>
        </p:nvSpPr>
        <p:spPr>
          <a:xfrm>
            <a:off x="9793224" y="3246120"/>
            <a:ext cx="1865376" cy="822960"/>
          </a:xfrm>
          <a:prstGeom prst="rect">
            <a:avLst/>
          </a:prstGeom>
          <a:noFill/>
          <a:ln/>
        </p:spPr>
        <p:txBody>
          <a:bodyPr wrap="square" rtlCol="0" anchor="ctr"/>
          <a:lstStyle/>
          <a:p>
            <a:pPr marL="0" indent="0" algn="ctr">
              <a:buNone/>
            </a:pPr>
            <a:r>
              <a:rPr lang="en-US" sz="950" i="1" dirty="0">
                <a:solidFill>
                  <a:srgbClr val="5B6B66"/>
                </a:solidFill>
                <a:latin typeface="Calibri" pitchFamily="34" charset="0"/>
                <a:ea typeface="Calibri" pitchFamily="34" charset="-122"/>
                <a:cs typeface="Calibri" pitchFamily="34" charset="-120"/>
              </a:rPr>
              <a:t>Average time to complete an order</a:t>
            </a:r>
            <a:endParaRPr lang="en-US" sz="950" dirty="0"/>
          </a:p>
        </p:txBody>
      </p:sp>
      <p:sp>
        <p:nvSpPr>
          <p:cNvPr id="25" name="Text 23"/>
          <p:cNvSpPr/>
          <p:nvPr/>
        </p:nvSpPr>
        <p:spPr>
          <a:xfrm>
            <a:off x="548640" y="4526280"/>
            <a:ext cx="10972800" cy="320040"/>
          </a:xfrm>
          <a:prstGeom prst="rect">
            <a:avLst/>
          </a:prstGeom>
          <a:noFill/>
          <a:ln/>
        </p:spPr>
        <p:txBody>
          <a:bodyPr wrap="square" rtlCol="0" anchor="ctr"/>
          <a:lstStyle/>
          <a:p>
            <a:pPr marL="0" indent="0">
              <a:buNone/>
            </a:pPr>
            <a:r>
              <a:rPr lang="en-US" sz="1200" b="1" kern="0" spc="120" dirty="0">
                <a:solidFill>
                  <a:srgbClr val="00704A"/>
                </a:solidFill>
                <a:latin typeface="Calibri" pitchFamily="34" charset="0"/>
                <a:ea typeface="Calibri" pitchFamily="34" charset="-122"/>
                <a:cs typeface="Calibri" pitchFamily="34" charset="-120"/>
              </a:rPr>
              <a:t>KPI QUESTIONS</a:t>
            </a:r>
            <a:endParaRPr lang="en-US" sz="1200" dirty="0"/>
          </a:p>
        </p:txBody>
      </p:sp>
      <p:sp>
        <p:nvSpPr>
          <p:cNvPr id="26" name="Shape 24"/>
          <p:cNvSpPr/>
          <p:nvPr/>
        </p:nvSpPr>
        <p:spPr>
          <a:xfrm>
            <a:off x="548640" y="4992624"/>
            <a:ext cx="109728" cy="109728"/>
          </a:xfrm>
          <a:prstGeom prst="ellipse">
            <a:avLst/>
          </a:prstGeom>
          <a:solidFill>
            <a:srgbClr val="00704A"/>
          </a:solidFill>
          <a:ln/>
        </p:spPr>
        <p:txBody>
          <a:bodyPr/>
          <a:lstStyle/>
          <a:p>
            <a:endParaRPr lang="en-IN"/>
          </a:p>
        </p:txBody>
      </p:sp>
      <p:sp>
        <p:nvSpPr>
          <p:cNvPr id="27" name="Text 25"/>
          <p:cNvSpPr/>
          <p:nvPr/>
        </p:nvSpPr>
        <p:spPr>
          <a:xfrm>
            <a:off x="777240" y="4892040"/>
            <a:ext cx="5486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What is the total revenue?</a:t>
            </a:r>
            <a:endParaRPr lang="en-US" sz="1200" dirty="0"/>
          </a:p>
        </p:txBody>
      </p:sp>
      <p:sp>
        <p:nvSpPr>
          <p:cNvPr id="28" name="Shape 26"/>
          <p:cNvSpPr/>
          <p:nvPr/>
        </p:nvSpPr>
        <p:spPr>
          <a:xfrm>
            <a:off x="548640" y="5321808"/>
            <a:ext cx="109728" cy="109728"/>
          </a:xfrm>
          <a:prstGeom prst="ellipse">
            <a:avLst/>
          </a:prstGeom>
          <a:solidFill>
            <a:srgbClr val="00704A"/>
          </a:solidFill>
          <a:ln/>
        </p:spPr>
        <p:txBody>
          <a:bodyPr/>
          <a:lstStyle/>
          <a:p>
            <a:endParaRPr lang="en-IN"/>
          </a:p>
        </p:txBody>
      </p:sp>
      <p:sp>
        <p:nvSpPr>
          <p:cNvPr id="29" name="Text 27"/>
          <p:cNvSpPr/>
          <p:nvPr/>
        </p:nvSpPr>
        <p:spPr>
          <a:xfrm>
            <a:off x="777240" y="5221224"/>
            <a:ext cx="5486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How many orders were placed?</a:t>
            </a:r>
            <a:endParaRPr lang="en-US" sz="1200" dirty="0"/>
          </a:p>
        </p:txBody>
      </p:sp>
      <p:sp>
        <p:nvSpPr>
          <p:cNvPr id="30" name="Shape 28"/>
          <p:cNvSpPr/>
          <p:nvPr/>
        </p:nvSpPr>
        <p:spPr>
          <a:xfrm>
            <a:off x="548640" y="5650992"/>
            <a:ext cx="109728" cy="109728"/>
          </a:xfrm>
          <a:prstGeom prst="ellipse">
            <a:avLst/>
          </a:prstGeom>
          <a:solidFill>
            <a:srgbClr val="00704A"/>
          </a:solidFill>
          <a:ln/>
        </p:spPr>
        <p:txBody>
          <a:bodyPr/>
          <a:lstStyle/>
          <a:p>
            <a:endParaRPr lang="en-IN"/>
          </a:p>
        </p:txBody>
      </p:sp>
      <p:sp>
        <p:nvSpPr>
          <p:cNvPr id="31" name="Text 29"/>
          <p:cNvSpPr/>
          <p:nvPr/>
        </p:nvSpPr>
        <p:spPr>
          <a:xfrm>
            <a:off x="777240" y="5550408"/>
            <a:ext cx="5486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What is the average order value?</a:t>
            </a:r>
            <a:endParaRPr lang="en-US" sz="1200" dirty="0"/>
          </a:p>
        </p:txBody>
      </p:sp>
      <p:sp>
        <p:nvSpPr>
          <p:cNvPr id="32" name="Shape 30"/>
          <p:cNvSpPr/>
          <p:nvPr/>
        </p:nvSpPr>
        <p:spPr>
          <a:xfrm>
            <a:off x="548640" y="5980176"/>
            <a:ext cx="109728" cy="109728"/>
          </a:xfrm>
          <a:prstGeom prst="ellipse">
            <a:avLst/>
          </a:prstGeom>
          <a:solidFill>
            <a:srgbClr val="00704A"/>
          </a:solidFill>
          <a:ln/>
        </p:spPr>
        <p:txBody>
          <a:bodyPr/>
          <a:lstStyle/>
          <a:p>
            <a:endParaRPr lang="en-IN"/>
          </a:p>
        </p:txBody>
      </p:sp>
      <p:sp>
        <p:nvSpPr>
          <p:cNvPr id="33" name="Text 31"/>
          <p:cNvSpPr/>
          <p:nvPr/>
        </p:nvSpPr>
        <p:spPr>
          <a:xfrm>
            <a:off x="777240" y="5879592"/>
            <a:ext cx="5486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What is the average satisfaction?</a:t>
            </a:r>
            <a:endParaRPr lang="en-US" sz="1200" dirty="0"/>
          </a:p>
        </p:txBody>
      </p:sp>
      <p:sp>
        <p:nvSpPr>
          <p:cNvPr id="34" name="Shape 32"/>
          <p:cNvSpPr/>
          <p:nvPr/>
        </p:nvSpPr>
        <p:spPr>
          <a:xfrm>
            <a:off x="548640" y="6309360"/>
            <a:ext cx="109728" cy="109728"/>
          </a:xfrm>
          <a:prstGeom prst="ellipse">
            <a:avLst/>
          </a:prstGeom>
          <a:solidFill>
            <a:srgbClr val="00704A"/>
          </a:solidFill>
          <a:ln/>
        </p:spPr>
        <p:txBody>
          <a:bodyPr/>
          <a:lstStyle/>
          <a:p>
            <a:endParaRPr lang="en-IN"/>
          </a:p>
        </p:txBody>
      </p:sp>
      <p:sp>
        <p:nvSpPr>
          <p:cNvPr id="35" name="Text 33"/>
          <p:cNvSpPr/>
          <p:nvPr/>
        </p:nvSpPr>
        <p:spPr>
          <a:xfrm>
            <a:off x="777240" y="6208776"/>
            <a:ext cx="5486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What is the average fulfillment time?</a:t>
            </a:r>
            <a:endParaRPr lang="en-US" sz="1200" dirty="0"/>
          </a:p>
        </p:txBody>
      </p:sp>
      <p:sp>
        <p:nvSpPr>
          <p:cNvPr id="36" name="Text 34"/>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37" name="Text 3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Business Questions</a:t>
            </a:r>
            <a:endParaRPr lang="en-US" sz="3000" dirty="0"/>
          </a:p>
        </p:txBody>
      </p:sp>
      <p:sp>
        <p:nvSpPr>
          <p:cNvPr id="4" name="Shape 2"/>
          <p:cNvSpPr/>
          <p:nvPr/>
        </p:nvSpPr>
        <p:spPr>
          <a:xfrm>
            <a:off x="548640" y="1600200"/>
            <a:ext cx="5440680" cy="914400"/>
          </a:xfrm>
          <a:prstGeom prst="roundRect">
            <a:avLst>
              <a:gd name="adj" fmla="val 8000"/>
            </a:avLst>
          </a:prstGeom>
          <a:solidFill>
            <a:srgbClr val="EAF3EF"/>
          </a:solidFill>
          <a:ln w="12700">
            <a:solidFill>
              <a:srgbClr val="EAF3EF"/>
            </a:solidFill>
            <a:prstDash val="solid"/>
          </a:ln>
        </p:spPr>
        <p:txBody>
          <a:bodyPr/>
          <a:lstStyle/>
          <a:p>
            <a:endParaRPr lang="en-IN"/>
          </a:p>
        </p:txBody>
      </p:sp>
      <p:sp>
        <p:nvSpPr>
          <p:cNvPr id="5" name="Text 3"/>
          <p:cNvSpPr/>
          <p:nvPr/>
        </p:nvSpPr>
        <p:spPr>
          <a:xfrm>
            <a:off x="685800" y="1600200"/>
            <a:ext cx="594360" cy="914400"/>
          </a:xfrm>
          <a:prstGeom prst="rect">
            <a:avLst/>
          </a:prstGeom>
          <a:noFill/>
          <a:ln/>
        </p:spPr>
        <p:txBody>
          <a:bodyPr wrap="square"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Q1</a:t>
            </a:r>
            <a:endParaRPr lang="en-US" sz="1800" dirty="0"/>
          </a:p>
        </p:txBody>
      </p:sp>
      <p:sp>
        <p:nvSpPr>
          <p:cNvPr id="6" name="Text 4"/>
          <p:cNvSpPr/>
          <p:nvPr/>
        </p:nvSpPr>
        <p:spPr>
          <a:xfrm>
            <a:off x="1280160" y="1600200"/>
            <a:ext cx="4709160" cy="9144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Which drink category generates the highest total revenue?</a:t>
            </a:r>
            <a:endParaRPr lang="en-US" sz="1300" dirty="0"/>
          </a:p>
        </p:txBody>
      </p:sp>
      <p:sp>
        <p:nvSpPr>
          <p:cNvPr id="7" name="Shape 5"/>
          <p:cNvSpPr/>
          <p:nvPr/>
        </p:nvSpPr>
        <p:spPr>
          <a:xfrm>
            <a:off x="6217920" y="1600200"/>
            <a:ext cx="5440680" cy="914400"/>
          </a:xfrm>
          <a:prstGeom prst="roundRect">
            <a:avLst>
              <a:gd name="adj" fmla="val 8000"/>
            </a:avLst>
          </a:prstGeom>
          <a:solidFill>
            <a:srgbClr val="FFFFFF"/>
          </a:solidFill>
          <a:ln w="12700">
            <a:solidFill>
              <a:srgbClr val="EAF3EF"/>
            </a:solidFill>
            <a:prstDash val="solid"/>
          </a:ln>
        </p:spPr>
        <p:txBody>
          <a:bodyPr/>
          <a:lstStyle/>
          <a:p>
            <a:endParaRPr lang="en-IN"/>
          </a:p>
        </p:txBody>
      </p:sp>
      <p:sp>
        <p:nvSpPr>
          <p:cNvPr id="8" name="Text 6"/>
          <p:cNvSpPr/>
          <p:nvPr/>
        </p:nvSpPr>
        <p:spPr>
          <a:xfrm>
            <a:off x="6355080" y="1600200"/>
            <a:ext cx="594360" cy="914400"/>
          </a:xfrm>
          <a:prstGeom prst="rect">
            <a:avLst/>
          </a:prstGeom>
          <a:noFill/>
          <a:ln/>
        </p:spPr>
        <p:txBody>
          <a:bodyPr wrap="square"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Q2</a:t>
            </a:r>
            <a:endParaRPr lang="en-US" sz="1800" dirty="0"/>
          </a:p>
        </p:txBody>
      </p:sp>
      <p:sp>
        <p:nvSpPr>
          <p:cNvPr id="9" name="Text 7"/>
          <p:cNvSpPr/>
          <p:nvPr/>
        </p:nvSpPr>
        <p:spPr>
          <a:xfrm>
            <a:off x="6949440" y="1600200"/>
            <a:ext cx="4709160" cy="9144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Which order channel contributes the highest sales?</a:t>
            </a:r>
            <a:endParaRPr lang="en-US" sz="1300" dirty="0"/>
          </a:p>
        </p:txBody>
      </p:sp>
      <p:sp>
        <p:nvSpPr>
          <p:cNvPr id="10" name="Shape 8"/>
          <p:cNvSpPr/>
          <p:nvPr/>
        </p:nvSpPr>
        <p:spPr>
          <a:xfrm>
            <a:off x="548640" y="2697480"/>
            <a:ext cx="5440680" cy="914400"/>
          </a:xfrm>
          <a:prstGeom prst="roundRect">
            <a:avLst>
              <a:gd name="adj" fmla="val 8000"/>
            </a:avLst>
          </a:prstGeom>
          <a:solidFill>
            <a:srgbClr val="EAF3EF"/>
          </a:solidFill>
          <a:ln w="12700">
            <a:solidFill>
              <a:srgbClr val="EAF3EF"/>
            </a:solidFill>
            <a:prstDash val="solid"/>
          </a:ln>
        </p:spPr>
        <p:txBody>
          <a:bodyPr/>
          <a:lstStyle/>
          <a:p>
            <a:endParaRPr lang="en-IN"/>
          </a:p>
        </p:txBody>
      </p:sp>
      <p:sp>
        <p:nvSpPr>
          <p:cNvPr id="11" name="Text 9"/>
          <p:cNvSpPr/>
          <p:nvPr/>
        </p:nvSpPr>
        <p:spPr>
          <a:xfrm>
            <a:off x="685800" y="2697480"/>
            <a:ext cx="594360" cy="914400"/>
          </a:xfrm>
          <a:prstGeom prst="rect">
            <a:avLst/>
          </a:prstGeom>
          <a:noFill/>
          <a:ln/>
        </p:spPr>
        <p:txBody>
          <a:bodyPr wrap="square"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Q3</a:t>
            </a:r>
            <a:endParaRPr lang="en-US" sz="1800" dirty="0"/>
          </a:p>
        </p:txBody>
      </p:sp>
      <p:sp>
        <p:nvSpPr>
          <p:cNvPr id="12" name="Text 10"/>
          <p:cNvSpPr/>
          <p:nvPr/>
        </p:nvSpPr>
        <p:spPr>
          <a:xfrm>
            <a:off x="1280160" y="2697480"/>
            <a:ext cx="4709160" cy="9144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At what hour are the highest number of orders placed?</a:t>
            </a:r>
            <a:endParaRPr lang="en-US" sz="1300" dirty="0"/>
          </a:p>
        </p:txBody>
      </p:sp>
      <p:sp>
        <p:nvSpPr>
          <p:cNvPr id="13" name="Shape 11"/>
          <p:cNvSpPr/>
          <p:nvPr/>
        </p:nvSpPr>
        <p:spPr>
          <a:xfrm>
            <a:off x="6217920" y="2697480"/>
            <a:ext cx="5440680" cy="914400"/>
          </a:xfrm>
          <a:prstGeom prst="roundRect">
            <a:avLst>
              <a:gd name="adj" fmla="val 8000"/>
            </a:avLst>
          </a:prstGeom>
          <a:solidFill>
            <a:srgbClr val="FFFFFF"/>
          </a:solidFill>
          <a:ln w="12700">
            <a:solidFill>
              <a:srgbClr val="EAF3EF"/>
            </a:solidFill>
            <a:prstDash val="solid"/>
          </a:ln>
        </p:spPr>
        <p:txBody>
          <a:bodyPr/>
          <a:lstStyle/>
          <a:p>
            <a:endParaRPr lang="en-IN"/>
          </a:p>
        </p:txBody>
      </p:sp>
      <p:sp>
        <p:nvSpPr>
          <p:cNvPr id="14" name="Text 12"/>
          <p:cNvSpPr/>
          <p:nvPr/>
        </p:nvSpPr>
        <p:spPr>
          <a:xfrm>
            <a:off x="6355080" y="2697480"/>
            <a:ext cx="594360" cy="914400"/>
          </a:xfrm>
          <a:prstGeom prst="rect">
            <a:avLst/>
          </a:prstGeom>
          <a:noFill/>
          <a:ln/>
        </p:spPr>
        <p:txBody>
          <a:bodyPr wrap="square"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Q4</a:t>
            </a:r>
            <a:endParaRPr lang="en-US" sz="1800" dirty="0"/>
          </a:p>
        </p:txBody>
      </p:sp>
      <p:sp>
        <p:nvSpPr>
          <p:cNvPr id="15" name="Text 13"/>
          <p:cNvSpPr/>
          <p:nvPr/>
        </p:nvSpPr>
        <p:spPr>
          <a:xfrm>
            <a:off x="6949440" y="2697480"/>
            <a:ext cx="4709160" cy="9144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How do monthly sales trends compare between 2024 and 2025?</a:t>
            </a:r>
            <a:endParaRPr lang="en-US" sz="1300" dirty="0"/>
          </a:p>
        </p:txBody>
      </p:sp>
      <p:sp>
        <p:nvSpPr>
          <p:cNvPr id="16" name="Shape 14"/>
          <p:cNvSpPr/>
          <p:nvPr/>
        </p:nvSpPr>
        <p:spPr>
          <a:xfrm>
            <a:off x="548640" y="3794760"/>
            <a:ext cx="5440680" cy="914400"/>
          </a:xfrm>
          <a:prstGeom prst="roundRect">
            <a:avLst>
              <a:gd name="adj" fmla="val 8000"/>
            </a:avLst>
          </a:prstGeom>
          <a:solidFill>
            <a:srgbClr val="EAF3EF"/>
          </a:solidFill>
          <a:ln w="12700">
            <a:solidFill>
              <a:srgbClr val="EAF3EF"/>
            </a:solidFill>
            <a:prstDash val="solid"/>
          </a:ln>
        </p:spPr>
        <p:txBody>
          <a:bodyPr/>
          <a:lstStyle/>
          <a:p>
            <a:endParaRPr lang="en-IN"/>
          </a:p>
        </p:txBody>
      </p:sp>
      <p:sp>
        <p:nvSpPr>
          <p:cNvPr id="17" name="Text 15"/>
          <p:cNvSpPr/>
          <p:nvPr/>
        </p:nvSpPr>
        <p:spPr>
          <a:xfrm>
            <a:off x="685800" y="3794760"/>
            <a:ext cx="594360" cy="914400"/>
          </a:xfrm>
          <a:prstGeom prst="rect">
            <a:avLst/>
          </a:prstGeom>
          <a:noFill/>
          <a:ln/>
        </p:spPr>
        <p:txBody>
          <a:bodyPr wrap="square"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Q5</a:t>
            </a:r>
            <a:endParaRPr lang="en-US" sz="1800" dirty="0"/>
          </a:p>
        </p:txBody>
      </p:sp>
      <p:sp>
        <p:nvSpPr>
          <p:cNvPr id="18" name="Text 16"/>
          <p:cNvSpPr/>
          <p:nvPr/>
        </p:nvSpPr>
        <p:spPr>
          <a:xfrm>
            <a:off x="1280160" y="3794760"/>
            <a:ext cx="4709160" cy="9144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Which day of the week generates the highest revenue?</a:t>
            </a:r>
            <a:endParaRPr lang="en-US" sz="1300" dirty="0"/>
          </a:p>
        </p:txBody>
      </p:sp>
      <p:sp>
        <p:nvSpPr>
          <p:cNvPr id="19" name="Shape 17"/>
          <p:cNvSpPr/>
          <p:nvPr/>
        </p:nvSpPr>
        <p:spPr>
          <a:xfrm>
            <a:off x="6217920" y="3794760"/>
            <a:ext cx="5440680" cy="914400"/>
          </a:xfrm>
          <a:prstGeom prst="roundRect">
            <a:avLst>
              <a:gd name="adj" fmla="val 8000"/>
            </a:avLst>
          </a:prstGeom>
          <a:solidFill>
            <a:srgbClr val="FFFFFF"/>
          </a:solidFill>
          <a:ln w="12700">
            <a:solidFill>
              <a:srgbClr val="EAF3EF"/>
            </a:solidFill>
            <a:prstDash val="solid"/>
          </a:ln>
        </p:spPr>
        <p:txBody>
          <a:bodyPr/>
          <a:lstStyle/>
          <a:p>
            <a:endParaRPr lang="en-IN"/>
          </a:p>
        </p:txBody>
      </p:sp>
      <p:sp>
        <p:nvSpPr>
          <p:cNvPr id="20" name="Text 18"/>
          <p:cNvSpPr/>
          <p:nvPr/>
        </p:nvSpPr>
        <p:spPr>
          <a:xfrm>
            <a:off x="6355080" y="3794760"/>
            <a:ext cx="594360" cy="914400"/>
          </a:xfrm>
          <a:prstGeom prst="rect">
            <a:avLst/>
          </a:prstGeom>
          <a:noFill/>
          <a:ln/>
        </p:spPr>
        <p:txBody>
          <a:bodyPr wrap="square"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Q6</a:t>
            </a:r>
            <a:endParaRPr lang="en-US" sz="1800" dirty="0"/>
          </a:p>
        </p:txBody>
      </p:sp>
      <p:sp>
        <p:nvSpPr>
          <p:cNvPr id="21" name="Text 19"/>
          <p:cNvSpPr/>
          <p:nvPr/>
        </p:nvSpPr>
        <p:spPr>
          <a:xfrm>
            <a:off x="6949440" y="3794760"/>
            <a:ext cx="4709160" cy="9144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Which customer age group spends the most on Starbucks orders?</a:t>
            </a:r>
            <a:endParaRPr lang="en-US" sz="1300" dirty="0"/>
          </a:p>
        </p:txBody>
      </p:sp>
      <p:sp>
        <p:nvSpPr>
          <p:cNvPr id="22" name="Shape 20"/>
          <p:cNvSpPr/>
          <p:nvPr/>
        </p:nvSpPr>
        <p:spPr>
          <a:xfrm>
            <a:off x="548640" y="4892040"/>
            <a:ext cx="5440680" cy="914400"/>
          </a:xfrm>
          <a:prstGeom prst="roundRect">
            <a:avLst>
              <a:gd name="adj" fmla="val 8000"/>
            </a:avLst>
          </a:prstGeom>
          <a:solidFill>
            <a:srgbClr val="EAF3EF"/>
          </a:solidFill>
          <a:ln w="12700">
            <a:solidFill>
              <a:srgbClr val="EAF3EF"/>
            </a:solidFill>
            <a:prstDash val="solid"/>
          </a:ln>
        </p:spPr>
        <p:txBody>
          <a:bodyPr/>
          <a:lstStyle/>
          <a:p>
            <a:endParaRPr lang="en-IN"/>
          </a:p>
        </p:txBody>
      </p:sp>
      <p:sp>
        <p:nvSpPr>
          <p:cNvPr id="23" name="Text 21"/>
          <p:cNvSpPr/>
          <p:nvPr/>
        </p:nvSpPr>
        <p:spPr>
          <a:xfrm>
            <a:off x="685800" y="4892040"/>
            <a:ext cx="594360" cy="914400"/>
          </a:xfrm>
          <a:prstGeom prst="rect">
            <a:avLst/>
          </a:prstGeom>
          <a:noFill/>
          <a:ln/>
        </p:spPr>
        <p:txBody>
          <a:bodyPr wrap="square"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Q7</a:t>
            </a:r>
            <a:endParaRPr lang="en-US" sz="1800" dirty="0"/>
          </a:p>
        </p:txBody>
      </p:sp>
      <p:sp>
        <p:nvSpPr>
          <p:cNvPr id="24" name="Text 22"/>
          <p:cNvSpPr/>
          <p:nvPr/>
        </p:nvSpPr>
        <p:spPr>
          <a:xfrm>
            <a:off x="1280160" y="4892040"/>
            <a:ext cx="4709160" cy="9144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Does Starbucks Rewards Membership influence customer spending?</a:t>
            </a:r>
            <a:endParaRPr lang="en-US" sz="1300" dirty="0"/>
          </a:p>
        </p:txBody>
      </p:sp>
      <p:sp>
        <p:nvSpPr>
          <p:cNvPr id="25" name="Shape 23"/>
          <p:cNvSpPr/>
          <p:nvPr/>
        </p:nvSpPr>
        <p:spPr>
          <a:xfrm>
            <a:off x="6217920" y="4892040"/>
            <a:ext cx="5440680" cy="914400"/>
          </a:xfrm>
          <a:prstGeom prst="roundRect">
            <a:avLst>
              <a:gd name="adj" fmla="val 8000"/>
            </a:avLst>
          </a:prstGeom>
          <a:solidFill>
            <a:srgbClr val="FFFFFF"/>
          </a:solidFill>
          <a:ln w="12700">
            <a:solidFill>
              <a:srgbClr val="EAF3EF"/>
            </a:solidFill>
            <a:prstDash val="solid"/>
          </a:ln>
        </p:spPr>
        <p:txBody>
          <a:bodyPr/>
          <a:lstStyle/>
          <a:p>
            <a:endParaRPr lang="en-IN" dirty="0"/>
          </a:p>
        </p:txBody>
      </p:sp>
      <p:sp>
        <p:nvSpPr>
          <p:cNvPr id="26" name="Text 24"/>
          <p:cNvSpPr/>
          <p:nvPr/>
        </p:nvSpPr>
        <p:spPr>
          <a:xfrm>
            <a:off x="6355080" y="4892040"/>
            <a:ext cx="594360" cy="914400"/>
          </a:xfrm>
          <a:prstGeom prst="rect">
            <a:avLst/>
          </a:prstGeom>
          <a:noFill/>
          <a:ln/>
        </p:spPr>
        <p:txBody>
          <a:bodyPr wrap="square"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Q8</a:t>
            </a:r>
            <a:endParaRPr lang="en-US" sz="1800" dirty="0"/>
          </a:p>
        </p:txBody>
      </p:sp>
      <p:sp>
        <p:nvSpPr>
          <p:cNvPr id="27" name="Text 25"/>
          <p:cNvSpPr/>
          <p:nvPr/>
        </p:nvSpPr>
        <p:spPr>
          <a:xfrm>
            <a:off x="6949440" y="4892040"/>
            <a:ext cx="4709160" cy="9144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How does fulfillment time impact customer satisfaction?</a:t>
            </a:r>
            <a:endParaRPr lang="en-US" sz="1300" dirty="0"/>
          </a:p>
        </p:txBody>
      </p:sp>
      <p:sp>
        <p:nvSpPr>
          <p:cNvPr id="28" name="Text 26"/>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29" name="Text 2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40080"/>
            <a:ext cx="10972800" cy="731520"/>
          </a:xfrm>
          <a:prstGeom prst="rect">
            <a:avLst/>
          </a:prstGeom>
          <a:noFill/>
          <a:ln/>
        </p:spPr>
        <p:txBody>
          <a:bodyPr wrap="square" rtlCol="0" anchor="ctr"/>
          <a:lstStyle/>
          <a:p>
            <a:r>
              <a:rPr lang="en-US" sz="3000" b="1" dirty="0">
                <a:solidFill>
                  <a:srgbClr val="0C3B2E"/>
                </a:solidFill>
                <a:latin typeface="Calibri" pitchFamily="34" charset="0"/>
                <a:ea typeface="Calibri" pitchFamily="34" charset="-122"/>
                <a:cs typeface="Calibri" pitchFamily="34" charset="-120"/>
              </a:rPr>
              <a:t>Q1 </a:t>
            </a:r>
            <a:r>
              <a:rPr lang="en-US" sz="3200" dirty="0">
                <a:solidFill>
                  <a:srgbClr val="1A1A1A"/>
                </a:solidFill>
                <a:latin typeface="Calibri" pitchFamily="34" charset="0"/>
                <a:ea typeface="Calibri" pitchFamily="34" charset="-122"/>
                <a:cs typeface="Calibri" pitchFamily="34" charset="-120"/>
              </a:rPr>
              <a:t>Which drink category generates the highest total revenue?</a:t>
            </a:r>
            <a:endParaRPr lang="en-US" sz="3200" dirty="0"/>
          </a:p>
          <a:p>
            <a:pPr marL="0" indent="0">
              <a:buNone/>
            </a:pPr>
            <a:endParaRPr lang="en-US" sz="3000" dirty="0"/>
          </a:p>
        </p:txBody>
      </p:sp>
      <p:sp>
        <p:nvSpPr>
          <p:cNvPr id="5" name="Text 2"/>
          <p:cNvSpPr/>
          <p:nvPr/>
        </p:nvSpPr>
        <p:spPr>
          <a:xfrm>
            <a:off x="457200" y="4389120"/>
            <a:ext cx="5486400" cy="320040"/>
          </a:xfrm>
          <a:prstGeom prst="rect">
            <a:avLst/>
          </a:prstGeom>
          <a:noFill/>
          <a:ln/>
        </p:spPr>
        <p:txBody>
          <a:bodyPr wrap="square" rtlCol="0" anchor="ctr"/>
          <a:lstStyle/>
          <a:p>
            <a:pPr marL="0" indent="0">
              <a:buNone/>
            </a:pPr>
            <a:endParaRPr lang="en-US" sz="1050" dirty="0"/>
          </a:p>
        </p:txBody>
      </p:sp>
      <p:sp>
        <p:nvSpPr>
          <p:cNvPr id="8" name="Text 4"/>
          <p:cNvSpPr/>
          <p:nvPr/>
        </p:nvSpPr>
        <p:spPr>
          <a:xfrm>
            <a:off x="6217920" y="4389120"/>
            <a:ext cx="5486400" cy="320040"/>
          </a:xfrm>
          <a:prstGeom prst="rect">
            <a:avLst/>
          </a:prstGeom>
          <a:noFill/>
          <a:ln/>
        </p:spPr>
        <p:txBody>
          <a:bodyPr wrap="square" rtlCol="0" anchor="ctr"/>
          <a:lstStyle/>
          <a:p>
            <a:pPr marL="0" indent="0">
              <a:buNone/>
            </a:pPr>
            <a:endParaRPr lang="en-US" sz="1050" dirty="0"/>
          </a:p>
        </p:txBody>
      </p:sp>
      <p:sp>
        <p:nvSpPr>
          <p:cNvPr id="10" name="Text 6"/>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1" name="Text 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11</a:t>
            </a:r>
            <a:endParaRPr lang="en-US" sz="900" dirty="0"/>
          </a:p>
        </p:txBody>
      </p:sp>
      <p:pic>
        <p:nvPicPr>
          <p:cNvPr id="13" name="Picture 12">
            <a:extLst>
              <a:ext uri="{FF2B5EF4-FFF2-40B4-BE49-F238E27FC236}">
                <a16:creationId xmlns:a16="http://schemas.microsoft.com/office/drawing/2014/main" id="{16D3616F-4831-14FB-6EF9-8CAF17197AC4}"/>
              </a:ext>
            </a:extLst>
          </p:cNvPr>
          <p:cNvPicPr>
            <a:picLocks noChangeAspect="1"/>
          </p:cNvPicPr>
          <p:nvPr/>
        </p:nvPicPr>
        <p:blipFill>
          <a:blip r:embed="rId3"/>
          <a:srcRect l="1377" r="3815"/>
          <a:stretch>
            <a:fillRect/>
          </a:stretch>
        </p:blipFill>
        <p:spPr>
          <a:xfrm>
            <a:off x="487680" y="1642404"/>
            <a:ext cx="6935373" cy="39811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40080"/>
            <a:ext cx="10972800" cy="731520"/>
          </a:xfrm>
          <a:prstGeom prst="rect">
            <a:avLst/>
          </a:prstGeom>
          <a:noFill/>
          <a:ln/>
        </p:spPr>
        <p:txBody>
          <a:bodyPr wrap="square" rtlCol="0" anchor="ctr"/>
          <a:lstStyle/>
          <a:p>
            <a:r>
              <a:rPr lang="en-US" sz="3000" b="1" dirty="0">
                <a:solidFill>
                  <a:srgbClr val="0C3B2E"/>
                </a:solidFill>
                <a:latin typeface="Calibri" pitchFamily="34" charset="0"/>
                <a:ea typeface="Calibri" pitchFamily="34" charset="-122"/>
                <a:cs typeface="Calibri" pitchFamily="34" charset="-120"/>
              </a:rPr>
              <a:t>Q2 </a:t>
            </a:r>
            <a:r>
              <a:rPr lang="en-US" sz="3200" dirty="0">
                <a:solidFill>
                  <a:srgbClr val="1A1A1A"/>
                </a:solidFill>
                <a:latin typeface="Calibri" pitchFamily="34" charset="0"/>
                <a:ea typeface="Calibri" pitchFamily="34" charset="-122"/>
                <a:cs typeface="Calibri" pitchFamily="34" charset="-120"/>
              </a:rPr>
              <a:t>Which order channel contributes the highest sales?</a:t>
            </a:r>
            <a:endParaRPr lang="en-US" sz="3200" dirty="0"/>
          </a:p>
          <a:p>
            <a:pPr marL="0" indent="0">
              <a:buNone/>
            </a:pPr>
            <a:r>
              <a:rPr lang="en-US" sz="3000" b="1" dirty="0">
                <a:solidFill>
                  <a:srgbClr val="0C3B2E"/>
                </a:solidFill>
                <a:latin typeface="Calibri" pitchFamily="34" charset="0"/>
                <a:ea typeface="Calibri" pitchFamily="34" charset="-122"/>
                <a:cs typeface="Calibri" pitchFamily="34" charset="-120"/>
              </a:rPr>
              <a:t> </a:t>
            </a:r>
            <a:endParaRPr lang="en-US" sz="3000" dirty="0"/>
          </a:p>
        </p:txBody>
      </p:sp>
      <p:sp>
        <p:nvSpPr>
          <p:cNvPr id="10" name="Text 6"/>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1" name="Text 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12</a:t>
            </a:r>
            <a:endParaRPr lang="en-US" sz="900" dirty="0"/>
          </a:p>
        </p:txBody>
      </p:sp>
      <p:pic>
        <p:nvPicPr>
          <p:cNvPr id="13" name="Picture 12">
            <a:extLst>
              <a:ext uri="{FF2B5EF4-FFF2-40B4-BE49-F238E27FC236}">
                <a16:creationId xmlns:a16="http://schemas.microsoft.com/office/drawing/2014/main" id="{E26A6319-594F-9293-96FD-882A3DEFA9F9}"/>
              </a:ext>
            </a:extLst>
          </p:cNvPr>
          <p:cNvPicPr>
            <a:picLocks noChangeAspect="1"/>
          </p:cNvPicPr>
          <p:nvPr/>
        </p:nvPicPr>
        <p:blipFill>
          <a:blip r:embed="rId3"/>
          <a:stretch>
            <a:fillRect/>
          </a:stretch>
        </p:blipFill>
        <p:spPr>
          <a:xfrm>
            <a:off x="2138289" y="1547447"/>
            <a:ext cx="7315200" cy="40936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40080"/>
            <a:ext cx="10972800" cy="731520"/>
          </a:xfrm>
          <a:prstGeom prst="rect">
            <a:avLst/>
          </a:prstGeom>
          <a:noFill/>
          <a:ln/>
        </p:spPr>
        <p:txBody>
          <a:bodyPr wrap="square" rtlCol="0" anchor="ctr"/>
          <a:lstStyle/>
          <a:p>
            <a:r>
              <a:rPr lang="en-US" sz="3000" b="1" dirty="0">
                <a:solidFill>
                  <a:srgbClr val="0C3B2E"/>
                </a:solidFill>
                <a:latin typeface="Calibri" pitchFamily="34" charset="0"/>
                <a:ea typeface="Calibri" pitchFamily="34" charset="-122"/>
                <a:cs typeface="Calibri" pitchFamily="34" charset="-120"/>
              </a:rPr>
              <a:t>Q3.</a:t>
            </a:r>
            <a:r>
              <a:rPr lang="en-US" sz="3200" dirty="0">
                <a:solidFill>
                  <a:srgbClr val="1A1A1A"/>
                </a:solidFill>
                <a:latin typeface="Calibri" pitchFamily="34" charset="0"/>
                <a:ea typeface="Calibri" pitchFamily="34" charset="-122"/>
                <a:cs typeface="Calibri" pitchFamily="34" charset="-120"/>
              </a:rPr>
              <a:t> At what hour are the highest number of orders placed?</a:t>
            </a:r>
            <a:endParaRPr lang="en-US" sz="3200" dirty="0"/>
          </a:p>
          <a:p>
            <a:pPr marL="0" indent="0">
              <a:buNone/>
            </a:pPr>
            <a:endParaRPr lang="en-US" sz="3000" dirty="0"/>
          </a:p>
        </p:txBody>
      </p:sp>
      <p:sp>
        <p:nvSpPr>
          <p:cNvPr id="10" name="Text 6"/>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1" name="Text 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13</a:t>
            </a:r>
            <a:endParaRPr lang="en-US" sz="900" dirty="0"/>
          </a:p>
        </p:txBody>
      </p:sp>
      <p:pic>
        <p:nvPicPr>
          <p:cNvPr id="13" name="Picture 12">
            <a:extLst>
              <a:ext uri="{FF2B5EF4-FFF2-40B4-BE49-F238E27FC236}">
                <a16:creationId xmlns:a16="http://schemas.microsoft.com/office/drawing/2014/main" id="{D4222967-7ED3-FDA0-BE0F-F5D89E53100F}"/>
              </a:ext>
            </a:extLst>
          </p:cNvPr>
          <p:cNvPicPr>
            <a:picLocks noChangeAspect="1"/>
          </p:cNvPicPr>
          <p:nvPr/>
        </p:nvPicPr>
        <p:blipFill>
          <a:blip r:embed="rId3"/>
          <a:stretch>
            <a:fillRect/>
          </a:stretch>
        </p:blipFill>
        <p:spPr>
          <a:xfrm>
            <a:off x="1055077" y="1617785"/>
            <a:ext cx="9059593" cy="49201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F631D-696A-2C93-FE08-26F656BD095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53A3F9C-C8C4-A58D-DC69-DE1B021298A7}"/>
              </a:ext>
            </a:extLst>
          </p:cNvPr>
          <p:cNvSpPr/>
          <p:nvPr/>
        </p:nvSpPr>
        <p:spPr>
          <a:xfrm>
            <a:off x="548640" y="640080"/>
            <a:ext cx="10972800" cy="731520"/>
          </a:xfrm>
          <a:prstGeom prst="rect">
            <a:avLst/>
          </a:prstGeom>
          <a:noFill/>
          <a:ln/>
        </p:spPr>
        <p:txBody>
          <a:bodyPr wrap="square" rtlCol="0" anchor="ctr"/>
          <a:lstStyle/>
          <a:p>
            <a:r>
              <a:rPr lang="en-US" sz="3000" b="1" dirty="0">
                <a:solidFill>
                  <a:srgbClr val="0C3B2E"/>
                </a:solidFill>
                <a:latin typeface="Calibri" pitchFamily="34" charset="0"/>
                <a:ea typeface="Calibri" pitchFamily="34" charset="-122"/>
                <a:cs typeface="Calibri" pitchFamily="34" charset="-120"/>
              </a:rPr>
              <a:t>Q4.</a:t>
            </a:r>
            <a:r>
              <a:rPr lang="en-US" sz="3200" dirty="0">
                <a:solidFill>
                  <a:srgbClr val="1A1A1A"/>
                </a:solidFill>
                <a:latin typeface="Calibri" pitchFamily="34" charset="0"/>
                <a:ea typeface="Calibri" pitchFamily="34" charset="-122"/>
                <a:cs typeface="Calibri" pitchFamily="34" charset="-120"/>
              </a:rPr>
              <a:t> How do monthly sales trends compare between 2024 and 2025?</a:t>
            </a:r>
            <a:endParaRPr lang="en-US" sz="3000" dirty="0"/>
          </a:p>
        </p:txBody>
      </p:sp>
      <p:sp>
        <p:nvSpPr>
          <p:cNvPr id="10" name="Text 6">
            <a:extLst>
              <a:ext uri="{FF2B5EF4-FFF2-40B4-BE49-F238E27FC236}">
                <a16:creationId xmlns:a16="http://schemas.microsoft.com/office/drawing/2014/main" id="{3575B908-118E-9EA6-B02D-3B189BBF6079}"/>
              </a:ext>
            </a:extLst>
          </p:cNvPr>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1" name="Text 7">
            <a:extLst>
              <a:ext uri="{FF2B5EF4-FFF2-40B4-BE49-F238E27FC236}">
                <a16:creationId xmlns:a16="http://schemas.microsoft.com/office/drawing/2014/main" id="{C07298C1-7FE0-9D45-619B-6EC256A0A2C8}"/>
              </a:ext>
            </a:extLst>
          </p:cNvPr>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13</a:t>
            </a:r>
            <a:endParaRPr lang="en-US" sz="900" dirty="0"/>
          </a:p>
        </p:txBody>
      </p:sp>
      <p:pic>
        <p:nvPicPr>
          <p:cNvPr id="8" name="Picture 7">
            <a:extLst>
              <a:ext uri="{FF2B5EF4-FFF2-40B4-BE49-F238E27FC236}">
                <a16:creationId xmlns:a16="http://schemas.microsoft.com/office/drawing/2014/main" id="{6B3735EE-26ED-40DF-7733-38DB4D728BE3}"/>
              </a:ext>
            </a:extLst>
          </p:cNvPr>
          <p:cNvPicPr>
            <a:picLocks noChangeAspect="1"/>
          </p:cNvPicPr>
          <p:nvPr/>
        </p:nvPicPr>
        <p:blipFill>
          <a:blip r:embed="rId3"/>
          <a:stretch>
            <a:fillRect/>
          </a:stretch>
        </p:blipFill>
        <p:spPr>
          <a:xfrm>
            <a:off x="1561514" y="1561514"/>
            <a:ext cx="8932984" cy="4501661"/>
          </a:xfrm>
          <a:prstGeom prst="rect">
            <a:avLst/>
          </a:prstGeom>
        </p:spPr>
      </p:pic>
    </p:spTree>
    <p:extLst>
      <p:ext uri="{BB962C8B-B14F-4D97-AF65-F5344CB8AC3E}">
        <p14:creationId xmlns:p14="http://schemas.microsoft.com/office/powerpoint/2010/main" val="133501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851CB-AC04-4DFE-6E13-79AEE7C3039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B59CD9D-6895-115A-CCAF-D76A3E449DE6}"/>
              </a:ext>
            </a:extLst>
          </p:cNvPr>
          <p:cNvSpPr/>
          <p:nvPr/>
        </p:nvSpPr>
        <p:spPr>
          <a:xfrm>
            <a:off x="548640" y="640080"/>
            <a:ext cx="10972800" cy="731520"/>
          </a:xfrm>
          <a:prstGeom prst="rect">
            <a:avLst/>
          </a:prstGeom>
          <a:noFill/>
          <a:ln/>
        </p:spPr>
        <p:txBody>
          <a:bodyPr wrap="square" rtlCol="0" anchor="ctr"/>
          <a:lstStyle/>
          <a:p>
            <a:r>
              <a:rPr lang="en-US" sz="3000" b="1" dirty="0">
                <a:solidFill>
                  <a:srgbClr val="0C3B2E"/>
                </a:solidFill>
                <a:latin typeface="Calibri" pitchFamily="34" charset="0"/>
                <a:ea typeface="Calibri" pitchFamily="34" charset="-122"/>
                <a:cs typeface="Calibri" pitchFamily="34" charset="-120"/>
              </a:rPr>
              <a:t>Q5.</a:t>
            </a:r>
            <a:r>
              <a:rPr lang="en-US" sz="3200" dirty="0">
                <a:solidFill>
                  <a:srgbClr val="1A1A1A"/>
                </a:solidFill>
                <a:latin typeface="Calibri" pitchFamily="34" charset="0"/>
                <a:ea typeface="Calibri" pitchFamily="34" charset="-122"/>
                <a:cs typeface="Calibri" pitchFamily="34" charset="-120"/>
              </a:rPr>
              <a:t> Which day of the week generates the highest revenue?</a:t>
            </a:r>
            <a:endParaRPr lang="en-US" sz="3200" dirty="0"/>
          </a:p>
          <a:p>
            <a:endParaRPr lang="en-US" sz="3000" dirty="0"/>
          </a:p>
        </p:txBody>
      </p:sp>
      <p:sp>
        <p:nvSpPr>
          <p:cNvPr id="10" name="Text 6">
            <a:extLst>
              <a:ext uri="{FF2B5EF4-FFF2-40B4-BE49-F238E27FC236}">
                <a16:creationId xmlns:a16="http://schemas.microsoft.com/office/drawing/2014/main" id="{C01FD0AC-9E85-CBFD-E559-2D18CF9E3DC2}"/>
              </a:ext>
            </a:extLst>
          </p:cNvPr>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1" name="Text 7">
            <a:extLst>
              <a:ext uri="{FF2B5EF4-FFF2-40B4-BE49-F238E27FC236}">
                <a16:creationId xmlns:a16="http://schemas.microsoft.com/office/drawing/2014/main" id="{57FA35F0-D44D-3DD8-0F42-FB9CE5FA1ACC}"/>
              </a:ext>
            </a:extLst>
          </p:cNvPr>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13</a:t>
            </a:r>
            <a:endParaRPr lang="en-US" sz="900" dirty="0"/>
          </a:p>
        </p:txBody>
      </p:sp>
      <p:pic>
        <p:nvPicPr>
          <p:cNvPr id="4" name="Picture 3">
            <a:extLst>
              <a:ext uri="{FF2B5EF4-FFF2-40B4-BE49-F238E27FC236}">
                <a16:creationId xmlns:a16="http://schemas.microsoft.com/office/drawing/2014/main" id="{8643C5C0-288E-39CE-C2A3-4F2F6323DD5B}"/>
              </a:ext>
            </a:extLst>
          </p:cNvPr>
          <p:cNvPicPr>
            <a:picLocks noChangeAspect="1"/>
          </p:cNvPicPr>
          <p:nvPr/>
        </p:nvPicPr>
        <p:blipFill>
          <a:blip r:embed="rId3"/>
          <a:stretch>
            <a:fillRect/>
          </a:stretch>
        </p:blipFill>
        <p:spPr>
          <a:xfrm>
            <a:off x="1547446" y="1688123"/>
            <a:ext cx="7835705" cy="4389120"/>
          </a:xfrm>
          <a:prstGeom prst="rect">
            <a:avLst/>
          </a:prstGeom>
        </p:spPr>
      </p:pic>
    </p:spTree>
    <p:extLst>
      <p:ext uri="{BB962C8B-B14F-4D97-AF65-F5344CB8AC3E}">
        <p14:creationId xmlns:p14="http://schemas.microsoft.com/office/powerpoint/2010/main" val="2792478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9EB27-2DF9-7A07-C08C-F488B600ABE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1A95EFF-38D5-B9F5-7BE6-D8FA912546C8}"/>
              </a:ext>
            </a:extLst>
          </p:cNvPr>
          <p:cNvSpPr/>
          <p:nvPr/>
        </p:nvSpPr>
        <p:spPr>
          <a:xfrm>
            <a:off x="548640" y="640080"/>
            <a:ext cx="10972800" cy="731520"/>
          </a:xfrm>
          <a:prstGeom prst="rect">
            <a:avLst/>
          </a:prstGeom>
          <a:noFill/>
          <a:ln/>
        </p:spPr>
        <p:txBody>
          <a:bodyPr wrap="square" rtlCol="0" anchor="ctr"/>
          <a:lstStyle/>
          <a:p>
            <a:r>
              <a:rPr lang="en-US" sz="3000" b="1" dirty="0">
                <a:solidFill>
                  <a:srgbClr val="0C3B2E"/>
                </a:solidFill>
                <a:latin typeface="Calibri" pitchFamily="34" charset="0"/>
                <a:ea typeface="Calibri" pitchFamily="34" charset="-122"/>
                <a:cs typeface="Calibri" pitchFamily="34" charset="-120"/>
              </a:rPr>
              <a:t>Q6.</a:t>
            </a:r>
            <a:r>
              <a:rPr lang="en-US" sz="3200" dirty="0">
                <a:solidFill>
                  <a:srgbClr val="1A1A1A"/>
                </a:solidFill>
                <a:latin typeface="Calibri" pitchFamily="34" charset="0"/>
                <a:ea typeface="Calibri" pitchFamily="34" charset="-122"/>
                <a:cs typeface="Calibri" pitchFamily="34" charset="-120"/>
              </a:rPr>
              <a:t> Which customer age group spends the most on Starbucks orders? </a:t>
            </a:r>
            <a:endParaRPr lang="en-US" sz="3000" dirty="0"/>
          </a:p>
        </p:txBody>
      </p:sp>
      <p:sp>
        <p:nvSpPr>
          <p:cNvPr id="10" name="Text 6">
            <a:extLst>
              <a:ext uri="{FF2B5EF4-FFF2-40B4-BE49-F238E27FC236}">
                <a16:creationId xmlns:a16="http://schemas.microsoft.com/office/drawing/2014/main" id="{2C6CA39B-DEF9-A317-A2E2-40113CF08ABF}"/>
              </a:ext>
            </a:extLst>
          </p:cNvPr>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1" name="Text 7">
            <a:extLst>
              <a:ext uri="{FF2B5EF4-FFF2-40B4-BE49-F238E27FC236}">
                <a16:creationId xmlns:a16="http://schemas.microsoft.com/office/drawing/2014/main" id="{6422DADB-0DA5-8660-1416-BD8C614BB920}"/>
              </a:ext>
            </a:extLst>
          </p:cNvPr>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13</a:t>
            </a:r>
            <a:endParaRPr lang="en-US" sz="900" dirty="0"/>
          </a:p>
        </p:txBody>
      </p:sp>
      <p:pic>
        <p:nvPicPr>
          <p:cNvPr id="5" name="Picture 4">
            <a:extLst>
              <a:ext uri="{FF2B5EF4-FFF2-40B4-BE49-F238E27FC236}">
                <a16:creationId xmlns:a16="http://schemas.microsoft.com/office/drawing/2014/main" id="{C8DF911D-C943-DCA7-9ED4-37BDBB55524E}"/>
              </a:ext>
            </a:extLst>
          </p:cNvPr>
          <p:cNvPicPr>
            <a:picLocks noChangeAspect="1"/>
          </p:cNvPicPr>
          <p:nvPr/>
        </p:nvPicPr>
        <p:blipFill>
          <a:blip r:embed="rId3"/>
          <a:stretch>
            <a:fillRect/>
          </a:stretch>
        </p:blipFill>
        <p:spPr>
          <a:xfrm>
            <a:off x="1654629" y="1857829"/>
            <a:ext cx="8868227" cy="3991427"/>
          </a:xfrm>
          <a:prstGeom prst="rect">
            <a:avLst/>
          </a:prstGeom>
        </p:spPr>
      </p:pic>
    </p:spTree>
    <p:extLst>
      <p:ext uri="{BB962C8B-B14F-4D97-AF65-F5344CB8AC3E}">
        <p14:creationId xmlns:p14="http://schemas.microsoft.com/office/powerpoint/2010/main" val="2642280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F0B25-0234-3DBA-F6C6-5052B9146AB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ECFBE19-22BE-253D-4EDB-E8C8F8964478}"/>
              </a:ext>
            </a:extLst>
          </p:cNvPr>
          <p:cNvSpPr/>
          <p:nvPr/>
        </p:nvSpPr>
        <p:spPr>
          <a:xfrm>
            <a:off x="548640" y="640080"/>
            <a:ext cx="10972800" cy="731520"/>
          </a:xfrm>
          <a:prstGeom prst="rect">
            <a:avLst/>
          </a:prstGeom>
          <a:noFill/>
          <a:ln/>
        </p:spPr>
        <p:txBody>
          <a:bodyPr wrap="square" rtlCol="0" anchor="ctr"/>
          <a:lstStyle/>
          <a:p>
            <a:r>
              <a:rPr lang="en-US" sz="3000" b="1" dirty="0">
                <a:solidFill>
                  <a:srgbClr val="0C3B2E"/>
                </a:solidFill>
                <a:latin typeface="Calibri" pitchFamily="34" charset="0"/>
                <a:ea typeface="Calibri" pitchFamily="34" charset="-122"/>
                <a:cs typeface="Calibri" pitchFamily="34" charset="-120"/>
              </a:rPr>
              <a:t>Q7.</a:t>
            </a:r>
            <a:r>
              <a:rPr lang="en-US" sz="3200" dirty="0">
                <a:solidFill>
                  <a:srgbClr val="1A1A1A"/>
                </a:solidFill>
                <a:latin typeface="Calibri" pitchFamily="34" charset="0"/>
                <a:ea typeface="Calibri" pitchFamily="34" charset="-122"/>
                <a:cs typeface="Calibri" pitchFamily="34" charset="-120"/>
              </a:rPr>
              <a:t> Does Starbucks Rewards Membership influence customer spending?</a:t>
            </a:r>
            <a:endParaRPr lang="en-US" sz="3200" dirty="0"/>
          </a:p>
          <a:p>
            <a:r>
              <a:rPr lang="en-US" sz="3200" dirty="0">
                <a:solidFill>
                  <a:srgbClr val="1A1A1A"/>
                </a:solidFill>
                <a:latin typeface="Calibri" pitchFamily="34" charset="0"/>
                <a:ea typeface="Calibri" pitchFamily="34" charset="-122"/>
                <a:cs typeface="Calibri" pitchFamily="34" charset="-120"/>
              </a:rPr>
              <a:t> </a:t>
            </a:r>
            <a:endParaRPr lang="en-US" sz="3000" dirty="0"/>
          </a:p>
        </p:txBody>
      </p:sp>
      <p:sp>
        <p:nvSpPr>
          <p:cNvPr id="10" name="Text 6">
            <a:extLst>
              <a:ext uri="{FF2B5EF4-FFF2-40B4-BE49-F238E27FC236}">
                <a16:creationId xmlns:a16="http://schemas.microsoft.com/office/drawing/2014/main" id="{AAD22596-5AE5-7E0D-C717-F1EFAF144C00}"/>
              </a:ext>
            </a:extLst>
          </p:cNvPr>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1" name="Text 7">
            <a:extLst>
              <a:ext uri="{FF2B5EF4-FFF2-40B4-BE49-F238E27FC236}">
                <a16:creationId xmlns:a16="http://schemas.microsoft.com/office/drawing/2014/main" id="{1DE54537-95C4-E89A-8A93-F787C4903F1B}"/>
              </a:ext>
            </a:extLst>
          </p:cNvPr>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13</a:t>
            </a:r>
            <a:endParaRPr lang="en-US" sz="900" dirty="0"/>
          </a:p>
        </p:txBody>
      </p:sp>
      <p:pic>
        <p:nvPicPr>
          <p:cNvPr id="4" name="Picture 3">
            <a:extLst>
              <a:ext uri="{FF2B5EF4-FFF2-40B4-BE49-F238E27FC236}">
                <a16:creationId xmlns:a16="http://schemas.microsoft.com/office/drawing/2014/main" id="{DC9F34F9-CEE8-13F5-9112-AF4D0430B31A}"/>
              </a:ext>
            </a:extLst>
          </p:cNvPr>
          <p:cNvPicPr>
            <a:picLocks noChangeAspect="1"/>
          </p:cNvPicPr>
          <p:nvPr/>
        </p:nvPicPr>
        <p:blipFill>
          <a:blip r:embed="rId3"/>
          <a:stretch>
            <a:fillRect/>
          </a:stretch>
        </p:blipFill>
        <p:spPr>
          <a:xfrm>
            <a:off x="2133600" y="1712687"/>
            <a:ext cx="8302171" cy="4165600"/>
          </a:xfrm>
          <a:prstGeom prst="rect">
            <a:avLst/>
          </a:prstGeom>
        </p:spPr>
      </p:pic>
    </p:spTree>
    <p:extLst>
      <p:ext uri="{BB962C8B-B14F-4D97-AF65-F5344CB8AC3E}">
        <p14:creationId xmlns:p14="http://schemas.microsoft.com/office/powerpoint/2010/main" val="3298671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E123D-5316-3C9F-FA71-59BE2B652DA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30B3948-8DEC-A95C-9FEB-EB4A007A68D1}"/>
              </a:ext>
            </a:extLst>
          </p:cNvPr>
          <p:cNvSpPr/>
          <p:nvPr/>
        </p:nvSpPr>
        <p:spPr>
          <a:xfrm>
            <a:off x="548640" y="640080"/>
            <a:ext cx="10972800" cy="731520"/>
          </a:xfrm>
          <a:prstGeom prst="rect">
            <a:avLst/>
          </a:prstGeom>
          <a:noFill/>
          <a:ln/>
        </p:spPr>
        <p:txBody>
          <a:bodyPr wrap="square" rtlCol="0" anchor="ctr"/>
          <a:lstStyle/>
          <a:p>
            <a:r>
              <a:rPr lang="en-US" sz="3000" b="1" dirty="0">
                <a:solidFill>
                  <a:srgbClr val="0C3B2E"/>
                </a:solidFill>
                <a:latin typeface="Calibri" pitchFamily="34" charset="0"/>
                <a:ea typeface="Calibri" pitchFamily="34" charset="-122"/>
                <a:cs typeface="Calibri" pitchFamily="34" charset="-120"/>
              </a:rPr>
              <a:t>Q8.</a:t>
            </a:r>
            <a:r>
              <a:rPr lang="en-US" sz="3200" dirty="0">
                <a:solidFill>
                  <a:srgbClr val="1A1A1A"/>
                </a:solidFill>
                <a:latin typeface="Calibri" pitchFamily="34" charset="0"/>
                <a:ea typeface="Calibri" pitchFamily="34" charset="-122"/>
                <a:cs typeface="Calibri" pitchFamily="34" charset="-120"/>
              </a:rPr>
              <a:t> How does fulfillment time impact customer satisfaction?</a:t>
            </a:r>
            <a:endParaRPr lang="en-US" sz="3200" dirty="0"/>
          </a:p>
          <a:p>
            <a:endParaRPr lang="en-US" sz="3200" dirty="0"/>
          </a:p>
          <a:p>
            <a:r>
              <a:rPr lang="en-US" sz="3200" dirty="0">
                <a:solidFill>
                  <a:srgbClr val="1A1A1A"/>
                </a:solidFill>
                <a:latin typeface="Calibri" pitchFamily="34" charset="0"/>
                <a:ea typeface="Calibri" pitchFamily="34" charset="-122"/>
                <a:cs typeface="Calibri" pitchFamily="34" charset="-120"/>
              </a:rPr>
              <a:t> </a:t>
            </a:r>
            <a:endParaRPr lang="en-US" sz="3000" dirty="0"/>
          </a:p>
        </p:txBody>
      </p:sp>
      <p:sp>
        <p:nvSpPr>
          <p:cNvPr id="10" name="Text 6">
            <a:extLst>
              <a:ext uri="{FF2B5EF4-FFF2-40B4-BE49-F238E27FC236}">
                <a16:creationId xmlns:a16="http://schemas.microsoft.com/office/drawing/2014/main" id="{E13FF3DA-C028-2239-DA00-C5B3EC1B5733}"/>
              </a:ext>
            </a:extLst>
          </p:cNvPr>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1" name="Text 7">
            <a:extLst>
              <a:ext uri="{FF2B5EF4-FFF2-40B4-BE49-F238E27FC236}">
                <a16:creationId xmlns:a16="http://schemas.microsoft.com/office/drawing/2014/main" id="{3E0DC4DB-A801-023A-054B-AD8BE181B2D1}"/>
              </a:ext>
            </a:extLst>
          </p:cNvPr>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13</a:t>
            </a:r>
            <a:endParaRPr lang="en-US" sz="900" dirty="0"/>
          </a:p>
        </p:txBody>
      </p:sp>
      <p:pic>
        <p:nvPicPr>
          <p:cNvPr id="5" name="Picture 4">
            <a:extLst>
              <a:ext uri="{FF2B5EF4-FFF2-40B4-BE49-F238E27FC236}">
                <a16:creationId xmlns:a16="http://schemas.microsoft.com/office/drawing/2014/main" id="{8BFDC43B-8E65-FC97-E11B-D8489A834D7C}"/>
              </a:ext>
            </a:extLst>
          </p:cNvPr>
          <p:cNvPicPr>
            <a:picLocks noChangeAspect="1"/>
          </p:cNvPicPr>
          <p:nvPr/>
        </p:nvPicPr>
        <p:blipFill>
          <a:blip r:embed="rId3"/>
          <a:stretch>
            <a:fillRect/>
          </a:stretch>
        </p:blipFill>
        <p:spPr>
          <a:xfrm>
            <a:off x="3285733" y="1175656"/>
            <a:ext cx="6729124" cy="4397829"/>
          </a:xfrm>
          <a:prstGeom prst="rect">
            <a:avLst/>
          </a:prstGeom>
        </p:spPr>
      </p:pic>
    </p:spTree>
    <p:extLst>
      <p:ext uri="{BB962C8B-B14F-4D97-AF65-F5344CB8AC3E}">
        <p14:creationId xmlns:p14="http://schemas.microsoft.com/office/powerpoint/2010/main" val="274140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00704A"/>
                </a:solidFill>
                <a:latin typeface="Calibri" pitchFamily="34" charset="0"/>
                <a:ea typeface="Calibri" pitchFamily="34" charset="-122"/>
                <a:cs typeface="Calibri" pitchFamily="34" charset="-120"/>
              </a:rPr>
              <a:t>11 • BRINGING IT TOGETHER</a:t>
            </a:r>
            <a:endParaRPr lang="en-US" sz="1300" dirty="0"/>
          </a:p>
        </p:txBody>
      </p:sp>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Interactive Power BI Dashboard</a:t>
            </a:r>
            <a:endParaRPr lang="en-US" sz="3000" dirty="0"/>
          </a:p>
        </p:txBody>
      </p:sp>
      <p:sp>
        <p:nvSpPr>
          <p:cNvPr id="4" name="Shape 2"/>
          <p:cNvSpPr/>
          <p:nvPr/>
        </p:nvSpPr>
        <p:spPr>
          <a:xfrm>
            <a:off x="548640" y="1554480"/>
            <a:ext cx="11064240" cy="3931920"/>
          </a:xfrm>
          <a:prstGeom prst="roundRect">
            <a:avLst>
              <a:gd name="adj" fmla="val 2791"/>
            </a:avLst>
          </a:prstGeom>
          <a:solidFill>
            <a:srgbClr val="EAF3EF"/>
          </a:solidFill>
          <a:ln w="19050">
            <a:solidFill>
              <a:srgbClr val="00704A"/>
            </a:solidFill>
            <a:prstDash val="dash"/>
          </a:ln>
        </p:spPr>
        <p:txBody>
          <a:bodyPr/>
          <a:lstStyle/>
          <a:p>
            <a:endParaRPr lang="en-IN" dirty="0"/>
          </a:p>
        </p:txBody>
      </p:sp>
      <p:sp>
        <p:nvSpPr>
          <p:cNvPr id="5" name="Text 3"/>
          <p:cNvSpPr/>
          <p:nvPr/>
        </p:nvSpPr>
        <p:spPr>
          <a:xfrm>
            <a:off x="548640" y="2377440"/>
            <a:ext cx="11064240" cy="914400"/>
          </a:xfrm>
          <a:prstGeom prst="rect">
            <a:avLst/>
          </a:prstGeom>
          <a:noFill/>
          <a:ln/>
        </p:spPr>
        <p:txBody>
          <a:bodyPr wrap="square" rtlCol="0" anchor="ctr"/>
          <a:lstStyle/>
          <a:p>
            <a:pPr marL="0" indent="0" algn="ctr">
              <a:buNone/>
            </a:pPr>
            <a:r>
              <a:rPr lang="en-US" sz="4000" dirty="0">
                <a:solidFill>
                  <a:srgbClr val="000000"/>
                </a:solidFill>
                <a:latin typeface="Calibri" pitchFamily="34" charset="0"/>
                <a:ea typeface="Calibri" pitchFamily="34" charset="-122"/>
                <a:cs typeface="Calibri" pitchFamily="34" charset="-120"/>
              </a:rPr>
              <a:t>📊</a:t>
            </a:r>
            <a:endParaRPr lang="en-US" sz="4000" dirty="0"/>
          </a:p>
        </p:txBody>
      </p:sp>
      <p:sp>
        <p:nvSpPr>
          <p:cNvPr id="6" name="Text 4"/>
          <p:cNvSpPr/>
          <p:nvPr/>
        </p:nvSpPr>
        <p:spPr>
          <a:xfrm>
            <a:off x="548640" y="3200400"/>
            <a:ext cx="11064240" cy="457200"/>
          </a:xfrm>
          <a:prstGeom prst="rect">
            <a:avLst/>
          </a:prstGeom>
          <a:noFill/>
          <a:ln/>
        </p:spPr>
        <p:txBody>
          <a:bodyPr wrap="square" rtlCol="0" anchor="ctr"/>
          <a:lstStyle/>
          <a:p>
            <a:pPr marL="0" indent="0" algn="ctr">
              <a:buNone/>
            </a:pPr>
            <a:r>
              <a:rPr lang="en-US" sz="1600" b="1" dirty="0">
                <a:solidFill>
                  <a:srgbClr val="00704A"/>
                </a:solidFill>
                <a:latin typeface="Calibri" pitchFamily="34" charset="0"/>
                <a:ea typeface="Calibri" pitchFamily="34" charset="-122"/>
                <a:cs typeface="Calibri" pitchFamily="34" charset="-120"/>
              </a:rPr>
              <a:t>Insert your full dashboard screenshot here</a:t>
            </a:r>
            <a:endParaRPr lang="en-US" sz="1600" dirty="0"/>
          </a:p>
        </p:txBody>
      </p:sp>
      <p:sp>
        <p:nvSpPr>
          <p:cNvPr id="7" name="Text 5"/>
          <p:cNvSpPr/>
          <p:nvPr/>
        </p:nvSpPr>
        <p:spPr>
          <a:xfrm>
            <a:off x="548640" y="3657600"/>
            <a:ext cx="11064240" cy="365760"/>
          </a:xfrm>
          <a:prstGeom prst="rect">
            <a:avLst/>
          </a:prstGeom>
          <a:noFill/>
          <a:ln/>
        </p:spPr>
        <p:txBody>
          <a:bodyPr wrap="square" rtlCol="0" anchor="ctr"/>
          <a:lstStyle/>
          <a:p>
            <a:pPr marL="0" indent="0" algn="ctr">
              <a:buNone/>
            </a:pPr>
            <a:r>
              <a:rPr lang="en-US" sz="1150" i="1" dirty="0">
                <a:solidFill>
                  <a:srgbClr val="5B6B66"/>
                </a:solidFill>
                <a:latin typeface="Calibri" pitchFamily="34" charset="0"/>
                <a:ea typeface="Calibri" pitchFamily="34" charset="-122"/>
                <a:cs typeface="Calibri" pitchFamily="34" charset="-120"/>
              </a:rPr>
              <a:t>(Take a screenshot of your Power BI report page and paste it into this box)</a:t>
            </a:r>
            <a:endParaRPr lang="en-US" sz="1150" dirty="0"/>
          </a:p>
        </p:txBody>
      </p:sp>
      <p:sp>
        <p:nvSpPr>
          <p:cNvPr id="8" name="Text 6"/>
          <p:cNvSpPr/>
          <p:nvPr/>
        </p:nvSpPr>
        <p:spPr>
          <a:xfrm>
            <a:off x="548640" y="5623560"/>
            <a:ext cx="11064240" cy="548640"/>
          </a:xfrm>
          <a:prstGeom prst="rect">
            <a:avLst/>
          </a:prstGeom>
          <a:noFill/>
          <a:ln/>
        </p:spPr>
        <p:txBody>
          <a:bodyPr wrap="square" rtlCol="0" anchor="ctr"/>
          <a:lstStyle/>
          <a:p>
            <a:pPr marL="0" indent="0">
              <a:buNone/>
            </a:pPr>
            <a:r>
              <a:rPr lang="en-US" sz="1250" i="1" dirty="0">
                <a:solidFill>
                  <a:srgbClr val="5B6B66"/>
                </a:solidFill>
                <a:latin typeface="Calibri" pitchFamily="34" charset="0"/>
                <a:ea typeface="Calibri" pitchFamily="34" charset="-122"/>
                <a:cs typeface="Calibri" pitchFamily="34" charset="-120"/>
              </a:rPr>
              <a:t>The dashboard combines KPIs, charts and slicers into a single interactive report to provide a clear view of Starbucks customer ordering patterns.</a:t>
            </a:r>
            <a:endParaRPr lang="en-US" sz="1250" dirty="0"/>
          </a:p>
        </p:txBody>
      </p:sp>
      <p:sp>
        <p:nvSpPr>
          <p:cNvPr id="9" name="Text 7"/>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10" name="Text 8"/>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15</a:t>
            </a:r>
            <a:endParaRPr lang="en-US" sz="900" dirty="0"/>
          </a:p>
        </p:txBody>
      </p:sp>
      <p:pic>
        <p:nvPicPr>
          <p:cNvPr id="12" name="Picture 11">
            <a:extLst>
              <a:ext uri="{FF2B5EF4-FFF2-40B4-BE49-F238E27FC236}">
                <a16:creationId xmlns:a16="http://schemas.microsoft.com/office/drawing/2014/main" id="{761AA75E-CBC6-4D26-2F5B-43ED7703E491}"/>
              </a:ext>
            </a:extLst>
          </p:cNvPr>
          <p:cNvPicPr>
            <a:picLocks noChangeAspect="1"/>
          </p:cNvPicPr>
          <p:nvPr/>
        </p:nvPicPr>
        <p:blipFill>
          <a:blip r:embed="rId3"/>
          <a:srcRect l="6320" t="4533" r="2140" b="4533"/>
          <a:stretch>
            <a:fillRect/>
          </a:stretch>
        </p:blipFill>
        <p:spPr>
          <a:xfrm>
            <a:off x="548639" y="1371599"/>
            <a:ext cx="11207931" cy="411480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00704A"/>
                </a:solidFill>
                <a:latin typeface="Calibri" pitchFamily="34" charset="0"/>
                <a:ea typeface="Calibri" pitchFamily="34" charset="-122"/>
                <a:cs typeface="Calibri" pitchFamily="34" charset="-120"/>
              </a:rPr>
              <a:t>13 • WRAP UP</a:t>
            </a:r>
            <a:endParaRPr lang="en-US" sz="1300" dirty="0"/>
          </a:p>
        </p:txBody>
      </p:sp>
      <p:sp>
        <p:nvSpPr>
          <p:cNvPr id="3" name="Text 1"/>
          <p:cNvSpPr/>
          <p:nvPr/>
        </p:nvSpPr>
        <p:spPr>
          <a:xfrm>
            <a:off x="548640" y="640080"/>
            <a:ext cx="10972800" cy="731520"/>
          </a:xfrm>
          <a:prstGeom prst="rect">
            <a:avLst/>
          </a:prstGeom>
          <a:noFill/>
          <a:ln/>
        </p:spPr>
        <p:txBody>
          <a:bodyPr wrap="square" rtlCol="0" anchor="ctr"/>
          <a:lstStyle/>
          <a:p>
            <a:pPr marL="0" indent="0">
              <a:buNone/>
            </a:pPr>
            <a:r>
              <a:rPr lang="en-US" sz="3000" b="1" dirty="0">
                <a:solidFill>
                  <a:srgbClr val="0C3B2E"/>
                </a:solidFill>
                <a:latin typeface="Calibri" pitchFamily="34" charset="0"/>
                <a:ea typeface="Calibri" pitchFamily="34" charset="-122"/>
                <a:cs typeface="Calibri" pitchFamily="34" charset="-120"/>
              </a:rPr>
              <a:t>Conclusion</a:t>
            </a:r>
            <a:endParaRPr lang="en-US" sz="3000" dirty="0"/>
          </a:p>
        </p:txBody>
      </p:sp>
      <p:sp>
        <p:nvSpPr>
          <p:cNvPr id="4" name="Shape 2"/>
          <p:cNvSpPr/>
          <p:nvPr/>
        </p:nvSpPr>
        <p:spPr>
          <a:xfrm>
            <a:off x="548640" y="1737360"/>
            <a:ext cx="11064240" cy="3108960"/>
          </a:xfrm>
          <a:prstGeom prst="roundRect">
            <a:avLst>
              <a:gd name="adj" fmla="val 3529"/>
            </a:avLst>
          </a:prstGeom>
          <a:solidFill>
            <a:srgbClr val="EAF3EF"/>
          </a:solidFill>
          <a:ln/>
        </p:spPr>
        <p:txBody>
          <a:bodyPr/>
          <a:lstStyle/>
          <a:p>
            <a:endParaRPr lang="en-IN"/>
          </a:p>
        </p:txBody>
      </p:sp>
      <p:sp>
        <p:nvSpPr>
          <p:cNvPr id="5" name="Text 3"/>
          <p:cNvSpPr/>
          <p:nvPr/>
        </p:nvSpPr>
        <p:spPr>
          <a:xfrm>
            <a:off x="914400" y="2103120"/>
            <a:ext cx="10332720" cy="2377440"/>
          </a:xfrm>
          <a:prstGeom prst="rect">
            <a:avLst/>
          </a:prstGeom>
          <a:noFill/>
          <a:ln/>
        </p:spPr>
        <p:txBody>
          <a:bodyPr wrap="square" rtlCol="0" anchor="t"/>
          <a:lstStyle/>
          <a:p>
            <a:pPr marL="0" indent="0">
              <a:lnSpc>
                <a:spcPct val="140000"/>
              </a:lnSpc>
              <a:buNone/>
            </a:pPr>
            <a:r>
              <a:rPr lang="en-US" sz="1600" dirty="0">
                <a:solidFill>
                  <a:srgbClr val="0C3B2E"/>
                </a:solidFill>
                <a:latin typeface="Calibri" pitchFamily="34" charset="0"/>
                <a:ea typeface="Calibri" pitchFamily="34" charset="-122"/>
                <a:cs typeface="Calibri" pitchFamily="34" charset="-120"/>
              </a:rPr>
              <a:t>This project successfully analyzed Starbucks customer ordering patterns using Power BI. The analysis provides insights into revenue, orders, customer demographics, ordering channels, rewards membership and customer satisfaction. The interactive dashboard makes it easier to identify important trends and supports data-driven business decision-making.</a:t>
            </a:r>
            <a:endParaRPr lang="en-US" sz="1600" dirty="0"/>
          </a:p>
        </p:txBody>
      </p:sp>
      <p:sp>
        <p:nvSpPr>
          <p:cNvPr id="6" name="Text 4"/>
          <p:cNvSpPr/>
          <p:nvPr/>
        </p:nvSpPr>
        <p:spPr>
          <a:xfrm>
            <a:off x="548640" y="6537960"/>
            <a:ext cx="7315200" cy="274320"/>
          </a:xfrm>
          <a:prstGeom prst="rect">
            <a:avLst/>
          </a:prstGeom>
          <a:noFill/>
          <a:ln/>
        </p:spPr>
        <p:txBody>
          <a:bodyPr wrap="square" rtlCol="0" anchor="ctr"/>
          <a:lstStyle/>
          <a:p>
            <a:pPr marL="0" indent="0">
              <a:buNone/>
            </a:pPr>
            <a:r>
              <a:rPr lang="en-US" sz="900" dirty="0">
                <a:solidFill>
                  <a:srgbClr val="5B6B66"/>
                </a:solidFill>
                <a:latin typeface="Calibri" pitchFamily="34" charset="0"/>
                <a:ea typeface="Calibri" pitchFamily="34" charset="-122"/>
                <a:cs typeface="Calibri" pitchFamily="34" charset="-120"/>
              </a:rPr>
              <a:t>Starbucks Customer Ordering Pattern Analysis</a:t>
            </a:r>
            <a:endParaRPr lang="en-US" sz="900" dirty="0"/>
          </a:p>
        </p:txBody>
      </p:sp>
      <p:sp>
        <p:nvSpPr>
          <p:cNvPr id="7" name="Text 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0C3B2E"/>
        </a:solidFill>
        <a:effectLst/>
      </p:bgPr>
    </p:bg>
    <p:spTree>
      <p:nvGrpSpPr>
        <p:cNvPr id="1" name=""/>
        <p:cNvGrpSpPr/>
        <p:nvPr/>
      </p:nvGrpSpPr>
      <p:grpSpPr>
        <a:xfrm>
          <a:off x="0" y="0"/>
          <a:ext cx="0" cy="0"/>
          <a:chOff x="0" y="0"/>
          <a:chExt cx="0" cy="0"/>
        </a:xfrm>
      </p:grpSpPr>
      <p:sp>
        <p:nvSpPr>
          <p:cNvPr id="2" name="Shape 0"/>
          <p:cNvSpPr/>
          <p:nvPr/>
        </p:nvSpPr>
        <p:spPr>
          <a:xfrm>
            <a:off x="8961120" y="-2011680"/>
            <a:ext cx="6400800" cy="6400800"/>
          </a:xfrm>
          <a:prstGeom prst="ellipse">
            <a:avLst/>
          </a:prstGeom>
          <a:solidFill>
            <a:srgbClr val="00704A">
              <a:alpha val="40000"/>
            </a:srgbClr>
          </a:solidFill>
          <a:ln/>
        </p:spPr>
        <p:txBody>
          <a:bodyPr/>
          <a:lstStyle/>
          <a:p>
            <a:endParaRPr lang="en-IN"/>
          </a:p>
        </p:txBody>
      </p:sp>
      <p:sp>
        <p:nvSpPr>
          <p:cNvPr id="3" name="Text 1"/>
          <p:cNvSpPr/>
          <p:nvPr/>
        </p:nvSpPr>
        <p:spPr>
          <a:xfrm>
            <a:off x="822960" y="2743200"/>
            <a:ext cx="9144000" cy="109728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4" name="Text 2"/>
          <p:cNvSpPr/>
          <p:nvPr/>
        </p:nvSpPr>
        <p:spPr>
          <a:xfrm>
            <a:off x="822960" y="3566160"/>
            <a:ext cx="9144000" cy="548640"/>
          </a:xfrm>
          <a:prstGeom prst="rect">
            <a:avLst/>
          </a:prstGeom>
          <a:noFill/>
          <a:ln/>
        </p:spPr>
        <p:txBody>
          <a:bodyPr wrap="square" rtlCol="0" anchor="ctr"/>
          <a:lstStyle/>
          <a:p>
            <a:pPr marL="0" indent="0">
              <a:buNone/>
            </a:pPr>
            <a:r>
              <a:rPr lang="en-US" sz="1800" dirty="0">
                <a:solidFill>
                  <a:srgbClr val="C9A24B"/>
                </a:solidFill>
                <a:latin typeface="Calibri" pitchFamily="34" charset="0"/>
                <a:ea typeface="Calibri" pitchFamily="34" charset="-122"/>
                <a:cs typeface="Calibri" pitchFamily="34" charset="-120"/>
              </a:rPr>
              <a:t>Any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1064</TotalTime>
  <Words>1038</Words>
  <Application>Microsoft Office PowerPoint</Application>
  <PresentationFormat>Widescreen</PresentationFormat>
  <Paragraphs>211</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gokilaraji55@gmail.com</cp:lastModifiedBy>
  <cp:revision>4</cp:revision>
  <dcterms:created xsi:type="dcterms:W3CDTF">2026-08-15T14:36:24Z</dcterms:created>
  <dcterms:modified xsi:type="dcterms:W3CDTF">2026-08-16T16:55:36Z</dcterms:modified>
</cp:coreProperties>
</file>